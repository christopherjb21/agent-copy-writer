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88" autoAdjust="0"/>
  </p:normalViewPr>
  <p:slideViewPr>
    <p:cSldViewPr snapToGrid="0" snapToObjects="1">
      <p:cViewPr varScale="1">
        <p:scale>
          <a:sx n="81" d="100"/>
          <a:sy n="81" d="100"/>
        </p:scale>
        <p:origin x="64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76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and thank you for your time. Today I would like to present </a:t>
            </a:r>
            <a:r>
              <a:rPr lang="en-US" dirty="0"/>
              <a:t>my</a:t>
            </a:r>
            <a:r>
              <a:rPr dirty="0"/>
              <a:t> AI Marketing Copilot - a multi-agent solution designed for Indonesian online sellers.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day these sellers spend two to four hours managing orders, replying to chats, monitoring inventory, and writing promotional content across Shopee, TikTok Shop, and Instagram. This workload consumes their time and limits productivity.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pain points share one root cause: manual, repetitive work. Time drain, creative block, and missed opportunities all stem from sellers doing everything by hand.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My</a:t>
            </a:r>
            <a:r>
              <a:rPr dirty="0"/>
              <a:t> solution automates this entire process with a four-stage pipeline: data sub-agents, a copywriter, a reviewer, and Telegram delivery.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now demonstrate how the system works in practice, from a single terminal command to a ready-to-publish Telegram message.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 the PostgreSQL database, initialise the schema, and load a deterministic demo dataset: seven products, ninety-four orders, and twenty-three reviews.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data sub-agents query the database in parallel. The Sales Velocity Monitor finds best-sellers, the Deadstock Monitor detects slow-moving stock, and the Social Proof Miner collects recent five-star reviews.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results are assembled into one context and passed to the Copywriter Agent, which produces three channel-specific formats in a single step, guided by the brand voice profile.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delivery, the Reviewer Agent audits every figure against the source data to prevent hallucination. It scores the draft from one to one hundred and requests a revision whenever quality falls short.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approved content is delivered directly to the seller's Telegram, formatted and ready to copy and publish. What previously took hours is now completed automatically in seconds.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this solution saves sellers two to four hours daily, removes creative block, and protects brand trust through an automated quality-review loop.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very much for your attention. Questions are welcome.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0"/>
            <a:ext cx="12191695" cy="5486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54480"/>
            <a:ext cx="10515600" cy="457200"/>
          </a:xfrm>
          <a:prstGeom prst="rect">
            <a:avLst/>
          </a:prstGeom>
          <a:noFill/>
        </p:spPr>
        <p:txBody>
          <a:bodyPr wrap="square" lIns="0" tIns="0" rIns="0" bIns="0" anchor="t">
            <a:spAutoFit/>
          </a:bodyPr>
          <a:lstStyle/>
          <a:p>
            <a:pPr algn="l">
              <a:lnSpc>
                <a:spcPct val="100000"/>
              </a:lnSpc>
              <a:spcAft>
                <a:spcPts val="400"/>
              </a:spcAft>
            </a:pPr>
            <a:r>
              <a:rPr sz="1500" b="1" dirty="0">
                <a:solidFill>
                  <a:srgbClr val="7FD4E0"/>
                </a:solidFill>
                <a:latin typeface="Calibri"/>
              </a:rPr>
              <a:t>AGENT-COPY-WRITER  /  MVP DEMO</a:t>
            </a:r>
          </a:p>
        </p:txBody>
      </p:sp>
      <p:sp>
        <p:nvSpPr>
          <p:cNvPr id="5" name="TextBox 4"/>
          <p:cNvSpPr txBox="1"/>
          <p:nvPr/>
        </p:nvSpPr>
        <p:spPr>
          <a:xfrm>
            <a:off x="822960" y="2057400"/>
            <a:ext cx="10515600" cy="1463040"/>
          </a:xfrm>
          <a:prstGeom prst="rect">
            <a:avLst/>
          </a:prstGeom>
          <a:noFill/>
        </p:spPr>
        <p:txBody>
          <a:bodyPr wrap="square" lIns="0" tIns="0" rIns="0" bIns="0" anchor="t">
            <a:spAutoFit/>
          </a:bodyPr>
          <a:lstStyle/>
          <a:p>
            <a:pPr algn="l">
              <a:lnSpc>
                <a:spcPct val="100000"/>
              </a:lnSpc>
              <a:spcAft>
                <a:spcPts val="400"/>
              </a:spcAft>
            </a:pPr>
            <a:r>
              <a:rPr sz="5400" b="1" dirty="0">
                <a:solidFill>
                  <a:srgbClr val="FFFFFF"/>
                </a:solidFill>
                <a:latin typeface="Calibri"/>
              </a:rPr>
              <a:t>AI Marketing Copilot</a:t>
            </a:r>
          </a:p>
        </p:txBody>
      </p:sp>
      <p:sp>
        <p:nvSpPr>
          <p:cNvPr id="6" name="TextBox 5"/>
          <p:cNvSpPr txBox="1"/>
          <p:nvPr/>
        </p:nvSpPr>
        <p:spPr>
          <a:xfrm>
            <a:off x="822960" y="3200400"/>
            <a:ext cx="10515600" cy="548640"/>
          </a:xfrm>
          <a:prstGeom prst="rect">
            <a:avLst/>
          </a:prstGeom>
          <a:noFill/>
        </p:spPr>
        <p:txBody>
          <a:bodyPr wrap="square" lIns="0" tIns="0" rIns="0" bIns="0" anchor="t">
            <a:spAutoFit/>
          </a:bodyPr>
          <a:lstStyle/>
          <a:p>
            <a:pPr algn="l">
              <a:lnSpc>
                <a:spcPct val="100000"/>
              </a:lnSpc>
              <a:spcAft>
                <a:spcPts val="400"/>
              </a:spcAft>
            </a:pPr>
            <a:r>
              <a:rPr sz="2000" b="0" dirty="0">
                <a:solidFill>
                  <a:srgbClr val="C9D8E8"/>
                </a:solidFill>
                <a:latin typeface="Calibri"/>
              </a:rPr>
              <a:t>Turn transactional data into ready-to-publish promo content,</a:t>
            </a:r>
          </a:p>
        </p:txBody>
      </p:sp>
      <p:sp>
        <p:nvSpPr>
          <p:cNvPr id="7" name="TextBox 6"/>
          <p:cNvSpPr txBox="1"/>
          <p:nvPr/>
        </p:nvSpPr>
        <p:spPr>
          <a:xfrm>
            <a:off x="822960" y="3657600"/>
            <a:ext cx="10515600" cy="548640"/>
          </a:xfrm>
          <a:prstGeom prst="rect">
            <a:avLst/>
          </a:prstGeom>
          <a:noFill/>
        </p:spPr>
        <p:txBody>
          <a:bodyPr wrap="square" lIns="0" tIns="0" rIns="0" bIns="0" anchor="t">
            <a:spAutoFit/>
          </a:bodyPr>
          <a:lstStyle/>
          <a:p>
            <a:pPr algn="l">
              <a:lnSpc>
                <a:spcPct val="100000"/>
              </a:lnSpc>
              <a:spcAft>
                <a:spcPts val="400"/>
              </a:spcAft>
            </a:pPr>
            <a:r>
              <a:rPr sz="2000" b="0" dirty="0">
                <a:solidFill>
                  <a:srgbClr val="C9D8E8"/>
                </a:solidFill>
                <a:latin typeface="Calibri"/>
              </a:rPr>
              <a:t>delivered straight to the seller's Telegram.</a:t>
            </a:r>
          </a:p>
        </p:txBody>
      </p:sp>
      <p:sp>
        <p:nvSpPr>
          <p:cNvPr id="8" name="Rounded Rectangle 7"/>
          <p:cNvSpPr/>
          <p:nvPr/>
        </p:nvSpPr>
        <p:spPr>
          <a:xfrm>
            <a:off x="822960" y="4937760"/>
            <a:ext cx="1970532" cy="475488"/>
          </a:xfrm>
          <a:prstGeom prst="roundRect">
            <a:avLst/>
          </a:prstGeom>
          <a:solidFill>
            <a:srgbClr val="163A5C"/>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400"/>
              </a:spcAft>
            </a:pPr>
            <a:r>
              <a:rPr sz="1300" b="1">
                <a:solidFill>
                  <a:srgbClr val="FFFFFF"/>
                </a:solidFill>
                <a:latin typeface="Calibri"/>
              </a:rPr>
              <a:t>Python 3.14</a:t>
            </a:r>
          </a:p>
        </p:txBody>
      </p:sp>
      <p:sp>
        <p:nvSpPr>
          <p:cNvPr id="9" name="Rounded Rectangle 8"/>
          <p:cNvSpPr/>
          <p:nvPr/>
        </p:nvSpPr>
        <p:spPr>
          <a:xfrm>
            <a:off x="3022092" y="4937760"/>
            <a:ext cx="3246120" cy="475488"/>
          </a:xfrm>
          <a:prstGeom prst="roundRect">
            <a:avLst/>
          </a:prstGeom>
          <a:solidFill>
            <a:srgbClr val="163A5C"/>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400"/>
              </a:spcAft>
            </a:pPr>
            <a:r>
              <a:rPr sz="1300" b="1">
                <a:solidFill>
                  <a:srgbClr val="FFFFFF"/>
                </a:solidFill>
                <a:latin typeface="Calibri"/>
              </a:rPr>
              <a:t>Google ADK (LiteLlm)</a:t>
            </a:r>
          </a:p>
        </p:txBody>
      </p:sp>
      <p:sp>
        <p:nvSpPr>
          <p:cNvPr id="10" name="Rounded Rectangle 9"/>
          <p:cNvSpPr/>
          <p:nvPr/>
        </p:nvSpPr>
        <p:spPr>
          <a:xfrm>
            <a:off x="6496812" y="4937760"/>
            <a:ext cx="2253996" cy="475488"/>
          </a:xfrm>
          <a:prstGeom prst="roundRect">
            <a:avLst/>
          </a:prstGeom>
          <a:solidFill>
            <a:srgbClr val="163A5C"/>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400"/>
              </a:spcAft>
            </a:pPr>
            <a:r>
              <a:rPr sz="1300" b="1">
                <a:solidFill>
                  <a:srgbClr val="FFFFFF"/>
                </a:solidFill>
                <a:latin typeface="Calibri"/>
              </a:rPr>
              <a:t>PostgreSQL 18</a:t>
            </a:r>
          </a:p>
        </p:txBody>
      </p:sp>
      <p:sp>
        <p:nvSpPr>
          <p:cNvPr id="11" name="Rounded Rectangle 10"/>
          <p:cNvSpPr/>
          <p:nvPr/>
        </p:nvSpPr>
        <p:spPr>
          <a:xfrm>
            <a:off x="8979408" y="4937760"/>
            <a:ext cx="2112264" cy="475488"/>
          </a:xfrm>
          <a:prstGeom prst="roundRect">
            <a:avLst/>
          </a:prstGeom>
          <a:solidFill>
            <a:srgbClr val="163A5C"/>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400"/>
              </a:spcAft>
            </a:pPr>
            <a:r>
              <a:rPr sz="1300" b="1">
                <a:solidFill>
                  <a:srgbClr val="FFFFFF"/>
                </a:solidFill>
                <a:latin typeface="Calibri"/>
              </a:rPr>
              <a:t>Telegram Bot</a:t>
            </a:r>
          </a:p>
        </p:txBody>
      </p:sp>
      <p:sp>
        <p:nvSpPr>
          <p:cNvPr id="12" name="TextBox 11"/>
          <p:cNvSpPr txBox="1"/>
          <p:nvPr/>
        </p:nvSpPr>
        <p:spPr>
          <a:xfrm>
            <a:off x="822960" y="5623560"/>
            <a:ext cx="10515600" cy="365760"/>
          </a:xfrm>
          <a:prstGeom prst="rect">
            <a:avLst/>
          </a:prstGeom>
          <a:noFill/>
        </p:spPr>
        <p:txBody>
          <a:bodyPr wrap="square" lIns="0" tIns="0" rIns="0" bIns="0" anchor="t">
            <a:spAutoFit/>
          </a:bodyPr>
          <a:lstStyle/>
          <a:p>
            <a:pPr algn="l">
              <a:lnSpc>
                <a:spcPct val="100000"/>
              </a:lnSpc>
              <a:spcAft>
                <a:spcPts val="400"/>
              </a:spcAft>
            </a:pPr>
            <a:r>
              <a:rPr sz="1400" b="0" dirty="0">
                <a:solidFill>
                  <a:srgbClr val="9FB4C8"/>
                </a:solidFill>
                <a:latin typeface="Calibri"/>
              </a:rPr>
              <a:t>A multi-agent solution for Shopee / TikTok Shop / Instagram Business</a:t>
            </a:r>
          </a:p>
        </p:txBody>
      </p:sp>
      <p:sp>
        <p:nvSpPr>
          <p:cNvPr id="14" name="TextBox 13">
            <a:extLst>
              <a:ext uri="{FF2B5EF4-FFF2-40B4-BE49-F238E27FC236}">
                <a16:creationId xmlns:a16="http://schemas.microsoft.com/office/drawing/2014/main" id="{54E1D882-EE32-75F8-5A9B-3FCB36C29388}"/>
              </a:ext>
            </a:extLst>
          </p:cNvPr>
          <p:cNvSpPr txBox="1"/>
          <p:nvPr/>
        </p:nvSpPr>
        <p:spPr>
          <a:xfrm>
            <a:off x="853440" y="4176735"/>
            <a:ext cx="10515600" cy="307777"/>
          </a:xfrm>
          <a:prstGeom prst="rect">
            <a:avLst/>
          </a:prstGeom>
          <a:noFill/>
        </p:spPr>
        <p:txBody>
          <a:bodyPr wrap="square" lIns="0" tIns="0" rIns="0" bIns="0" anchor="t">
            <a:spAutoFit/>
          </a:bodyPr>
          <a:lstStyle/>
          <a:p>
            <a:pPr algn="l">
              <a:lnSpc>
                <a:spcPct val="100000"/>
              </a:lnSpc>
              <a:spcAft>
                <a:spcPts val="400"/>
              </a:spcAft>
            </a:pPr>
            <a:r>
              <a:rPr lang="en-US" sz="2000" b="0" dirty="0">
                <a:solidFill>
                  <a:srgbClr val="C9D8E8"/>
                </a:solidFill>
                <a:latin typeface="Calibri"/>
              </a:rPr>
              <a:t>Designed &amp; Authored by Christopher Gavra Reswara | Powered by Kilo Code</a:t>
            </a:r>
            <a:endParaRPr sz="2000" b="0" dirty="0">
              <a:solidFill>
                <a:srgbClr val="C9D8E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INTRODUCTION</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The Problem: Sellers Are Overloaded</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A familiar situation for Indonesian online sellers across multiple platforms</a:t>
            </a:r>
          </a:p>
        </p:txBody>
      </p:sp>
      <p:sp>
        <p:nvSpPr>
          <p:cNvPr id="7" name="Rounded Rectangle 6"/>
          <p:cNvSpPr/>
          <p:nvPr/>
        </p:nvSpPr>
        <p:spPr>
          <a:xfrm>
            <a:off x="502920" y="1600200"/>
            <a:ext cx="5577840" cy="283464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600"/>
              </a:spcAft>
            </a:pPr>
            <a:r>
              <a:rPr sz="5400" b="1">
                <a:solidFill>
                  <a:srgbClr val="1F7A8C"/>
                </a:solidFill>
                <a:latin typeface="Calibri"/>
              </a:rPr>
              <a:t>2-4 hours</a:t>
            </a:r>
          </a:p>
          <a:p>
            <a:pPr algn="ctr">
              <a:lnSpc>
                <a:spcPct val="100000"/>
              </a:lnSpc>
              <a:spcAft>
                <a:spcPts val="600"/>
              </a:spcAft>
            </a:pPr>
            <a:r>
              <a:rPr sz="2000" b="1">
                <a:solidFill>
                  <a:srgbClr val="0F2A43"/>
                </a:solidFill>
                <a:latin typeface="Calibri"/>
              </a:rPr>
              <a:t>lost every single day</a:t>
            </a:r>
          </a:p>
          <a:p>
            <a:pPr algn="ctr">
              <a:lnSpc>
                <a:spcPct val="100000"/>
              </a:lnSpc>
              <a:spcAft>
                <a:spcPts val="600"/>
              </a:spcAft>
            </a:pPr>
            <a:r>
              <a:rPr sz="1500" b="0">
                <a:solidFill>
                  <a:srgbClr val="222B33"/>
                </a:solidFill>
                <a:latin typeface="Calibri"/>
              </a:rPr>
              <a:t>on repetitive operational tasks, not on growing the business.</a:t>
            </a:r>
          </a:p>
        </p:txBody>
      </p:sp>
      <p:sp>
        <p:nvSpPr>
          <p:cNvPr id="8" name="TextBox 7"/>
          <p:cNvSpPr txBox="1"/>
          <p:nvPr/>
        </p:nvSpPr>
        <p:spPr>
          <a:xfrm>
            <a:off x="6400800" y="1691640"/>
            <a:ext cx="5303520" cy="3840480"/>
          </a:xfrm>
          <a:prstGeom prst="rect">
            <a:avLst/>
          </a:prstGeom>
          <a:noFill/>
        </p:spPr>
        <p:txBody>
          <a:bodyPr wrap="square" lIns="0" tIns="0" rIns="0" bIns="0" anchor="t">
            <a:spAutoFit/>
          </a:bodyPr>
          <a:lstStyle/>
          <a:p>
            <a:pPr algn="l">
              <a:lnSpc>
                <a:spcPct val="100000"/>
              </a:lnSpc>
              <a:spcAft>
                <a:spcPts val="1000"/>
              </a:spcAft>
            </a:pPr>
            <a:r>
              <a:rPr sz="1600" b="1">
                <a:solidFill>
                  <a:srgbClr val="0F2A43"/>
                </a:solidFill>
                <a:latin typeface="Calibri"/>
              </a:rPr>
              <a:t>Every day, sellers manually juggle:</a:t>
            </a:r>
          </a:p>
          <a:p>
            <a:pPr algn="l">
              <a:lnSpc>
                <a:spcPct val="100000"/>
              </a:lnSpc>
              <a:spcAft>
                <a:spcPts val="1000"/>
              </a:spcAft>
            </a:pPr>
            <a:r>
              <a:rPr sz="1500" b="0">
                <a:solidFill>
                  <a:srgbClr val="222B33"/>
                </a:solidFill>
                <a:latin typeface="Calibri"/>
              </a:rPr>
              <a:t>   Managing orders and replying to customer chats</a:t>
            </a:r>
          </a:p>
          <a:p>
            <a:pPr algn="l">
              <a:lnSpc>
                <a:spcPct val="100000"/>
              </a:lnSpc>
              <a:spcAft>
                <a:spcPts val="1000"/>
              </a:spcAft>
            </a:pPr>
            <a:r>
              <a:rPr sz="1500" b="0">
                <a:solidFill>
                  <a:srgbClr val="222B33"/>
                </a:solidFill>
                <a:latin typeface="Calibri"/>
              </a:rPr>
              <a:t>   Monitoring inventory and finding slow-moving stock</a:t>
            </a:r>
          </a:p>
          <a:p>
            <a:pPr algn="l">
              <a:lnSpc>
                <a:spcPct val="100000"/>
              </a:lnSpc>
              <a:spcAft>
                <a:spcPts val="1000"/>
              </a:spcAft>
            </a:pPr>
            <a:r>
              <a:rPr sz="1500" b="0">
                <a:solidFill>
                  <a:srgbClr val="222B33"/>
                </a:solidFill>
                <a:latin typeface="Calibri"/>
              </a:rPr>
              <a:t>   Writing promotional copy for each channel from scratch</a:t>
            </a:r>
          </a:p>
          <a:p>
            <a:pPr algn="l">
              <a:lnSpc>
                <a:spcPct val="100000"/>
              </a:lnSpc>
              <a:spcAft>
                <a:spcPts val="1000"/>
              </a:spcAft>
            </a:pPr>
            <a:endParaRPr sz="1500" b="0">
              <a:solidFill>
                <a:srgbClr val="222B33"/>
              </a:solidFill>
              <a:latin typeface="Calibri"/>
            </a:endParaRPr>
          </a:p>
          <a:p>
            <a:pPr algn="l">
              <a:lnSpc>
                <a:spcPct val="100000"/>
              </a:lnSpc>
              <a:spcAft>
                <a:spcPts val="1000"/>
              </a:spcAft>
            </a:pPr>
            <a:r>
              <a:rPr sz="1500" b="0">
                <a:solidFill>
                  <a:srgbClr val="222B33"/>
                </a:solidFill>
                <a:latin typeface="Calibri"/>
              </a:rPr>
              <a:t>The result is lost productivity, missed sales opportunities, and persistent creative block.</a:t>
            </a:r>
          </a:p>
        </p:txBody>
      </p:sp>
      <p:sp>
        <p:nvSpPr>
          <p:cNvPr id="9" name="Rectangle 8"/>
          <p:cNvSpPr/>
          <p:nvPr/>
        </p:nvSpPr>
        <p:spPr>
          <a:xfrm>
            <a:off x="502920" y="4754880"/>
            <a:ext cx="11201400" cy="9144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956048"/>
            <a:ext cx="10607040" cy="365760"/>
          </a:xfrm>
          <a:prstGeom prst="rect">
            <a:avLst/>
          </a:prstGeom>
          <a:noFill/>
        </p:spPr>
        <p:txBody>
          <a:bodyPr wrap="square" lIns="0" tIns="0" rIns="0" bIns="0" anchor="t">
            <a:spAutoFit/>
          </a:bodyPr>
          <a:lstStyle/>
          <a:p>
            <a:pPr algn="l">
              <a:lnSpc>
                <a:spcPct val="100000"/>
              </a:lnSpc>
              <a:spcAft>
                <a:spcPts val="400"/>
              </a:spcAft>
            </a:pPr>
            <a:r>
              <a:rPr sz="1200" b="1">
                <a:solidFill>
                  <a:srgbClr val="7FD4E0"/>
                </a:solidFill>
                <a:latin typeface="Calibri"/>
              </a:rPr>
              <a:t>WHO FEELS THIS PAIN?</a:t>
            </a:r>
          </a:p>
        </p:txBody>
      </p:sp>
      <p:sp>
        <p:nvSpPr>
          <p:cNvPr id="11" name="TextBox 10"/>
          <p:cNvSpPr txBox="1"/>
          <p:nvPr/>
        </p:nvSpPr>
        <p:spPr>
          <a:xfrm>
            <a:off x="822960" y="5248656"/>
            <a:ext cx="10607040" cy="365760"/>
          </a:xfrm>
          <a:prstGeom prst="rect">
            <a:avLst/>
          </a:prstGeom>
          <a:noFill/>
        </p:spPr>
        <p:txBody>
          <a:bodyPr wrap="square" lIns="0" tIns="0" rIns="0" bIns="0" anchor="t">
            <a:spAutoFit/>
          </a:bodyPr>
          <a:lstStyle/>
          <a:p>
            <a:pPr algn="l">
              <a:lnSpc>
                <a:spcPct val="100000"/>
              </a:lnSpc>
              <a:spcAft>
                <a:spcPts val="400"/>
              </a:spcAft>
            </a:pPr>
            <a:r>
              <a:rPr sz="1700" b="1">
                <a:solidFill>
                  <a:srgbClr val="FFFFFF"/>
                </a:solidFill>
                <a:latin typeface="Calibri"/>
              </a:rPr>
              <a:t>Shopee sellers    /    TikTok Shop sellers    /    Instagram businesses</a:t>
            </a:r>
          </a:p>
        </p:txBody>
      </p:sp>
      <p:sp>
        <p:nvSpPr>
          <p:cNvPr id="12" name="TextBox 11"/>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3" name="TextBox 12"/>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INTRODUCTION</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Three Pain Points, One Root Cause</a:t>
            </a:r>
          </a:p>
        </p:txBody>
      </p:sp>
      <p:sp>
        <p:nvSpPr>
          <p:cNvPr id="6" name="Rounded Rectangle 5"/>
          <p:cNvSpPr/>
          <p:nvPr/>
        </p:nvSpPr>
        <p:spPr>
          <a:xfrm>
            <a:off x="502920" y="1691640"/>
            <a:ext cx="3529584" cy="32918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2000" b="1">
                <a:solidFill>
                  <a:srgbClr val="0F2A43"/>
                </a:solidFill>
                <a:latin typeface="Calibri"/>
              </a:rPr>
              <a:t>Time Drain</a:t>
            </a:r>
          </a:p>
          <a:p>
            <a:pPr algn="l">
              <a:lnSpc>
                <a:spcPct val="100000"/>
              </a:lnSpc>
              <a:spcAft>
                <a:spcPts val="1000"/>
              </a:spcAft>
            </a:pPr>
            <a:r>
              <a:rPr sz="1400" b="0">
                <a:solidFill>
                  <a:srgbClr val="222B33"/>
                </a:solidFill>
                <a:latin typeface="Calibri"/>
              </a:rPr>
              <a:t>Hours spent daily on routine tasks - orders, chats, and inventory updates - across several disconnected platforms.</a:t>
            </a:r>
          </a:p>
        </p:txBody>
      </p:sp>
      <p:sp>
        <p:nvSpPr>
          <p:cNvPr id="7" name="Rectangle 6"/>
          <p:cNvSpPr/>
          <p:nvPr/>
        </p:nvSpPr>
        <p:spPr>
          <a:xfrm>
            <a:off x="502920" y="1691640"/>
            <a:ext cx="82296" cy="32918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4256" y="1691640"/>
            <a:ext cx="3529584" cy="32918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2000" b="1">
                <a:solidFill>
                  <a:srgbClr val="0F2A43"/>
                </a:solidFill>
                <a:latin typeface="Calibri"/>
              </a:rPr>
              <a:t>Creative Block</a:t>
            </a:r>
          </a:p>
          <a:p>
            <a:pPr algn="l">
              <a:lnSpc>
                <a:spcPct val="100000"/>
              </a:lnSpc>
              <a:spcAft>
                <a:spcPts val="1000"/>
              </a:spcAft>
            </a:pPr>
            <a:r>
              <a:rPr sz="1400" b="0">
                <a:solidFill>
                  <a:srgbClr val="222B33"/>
                </a:solidFill>
                <a:latin typeface="Calibri"/>
              </a:rPr>
              <a:t>Brainstorming fresh, channel-specific copy for every product and every platform quickly becomes exhausting.</a:t>
            </a:r>
          </a:p>
        </p:txBody>
      </p:sp>
      <p:sp>
        <p:nvSpPr>
          <p:cNvPr id="9" name="Rectangle 8"/>
          <p:cNvSpPr/>
          <p:nvPr/>
        </p:nvSpPr>
        <p:spPr>
          <a:xfrm>
            <a:off x="4334256" y="1691640"/>
            <a:ext cx="82296" cy="32918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65592" y="1691640"/>
            <a:ext cx="3529584" cy="32918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2000" b="1">
                <a:solidFill>
                  <a:srgbClr val="0F2A43"/>
                </a:solidFill>
                <a:latin typeface="Calibri"/>
              </a:rPr>
              <a:t>Missed Opportunities</a:t>
            </a:r>
          </a:p>
          <a:p>
            <a:pPr algn="l">
              <a:lnSpc>
                <a:spcPct val="100000"/>
              </a:lnSpc>
              <a:spcAft>
                <a:spcPts val="1000"/>
              </a:spcAft>
            </a:pPr>
            <a:r>
              <a:rPr sz="1400" b="0">
                <a:solidFill>
                  <a:srgbClr val="222B33"/>
                </a:solidFill>
                <a:latin typeface="Calibri"/>
              </a:rPr>
              <a:t>Deadstock sits forgotten and promotional moments pass because there is simply no time to act on them.</a:t>
            </a:r>
          </a:p>
        </p:txBody>
      </p:sp>
      <p:sp>
        <p:nvSpPr>
          <p:cNvPr id="11" name="Rectangle 10"/>
          <p:cNvSpPr/>
          <p:nvPr/>
        </p:nvSpPr>
        <p:spPr>
          <a:xfrm>
            <a:off x="8165592" y="1691640"/>
            <a:ext cx="82296" cy="32918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5349240"/>
            <a:ext cx="11201400" cy="86868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lnSpc>
                <a:spcPct val="100000"/>
              </a:lnSpc>
              <a:spcAft>
                <a:spcPts val="400"/>
              </a:spcAft>
            </a:pPr>
            <a:r>
              <a:rPr sz="1600" b="1">
                <a:solidFill>
                  <a:srgbClr val="0F2A43"/>
                </a:solidFill>
                <a:latin typeface="Calibri"/>
              </a:rPr>
              <a:t>These are automation problems - and automation problems are solvable with AI.</a:t>
            </a:r>
          </a:p>
        </p:txBody>
      </p:sp>
      <p:sp>
        <p:nvSpPr>
          <p:cNvPr id="13" name="TextBox 12"/>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4" name="TextBox 13"/>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SOLUTION</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A Multi-Agent Pipeline That Writes For You</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Data, Copywriter, Reviewer, Telegram - fully automated</a:t>
            </a:r>
          </a:p>
        </p:txBody>
      </p:sp>
      <p:sp>
        <p:nvSpPr>
          <p:cNvPr id="7" name="Rounded Rectangle 6"/>
          <p:cNvSpPr/>
          <p:nvPr/>
        </p:nvSpPr>
        <p:spPr>
          <a:xfrm>
            <a:off x="502920" y="1691640"/>
            <a:ext cx="26151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3000" b="1">
                <a:solidFill>
                  <a:srgbClr val="1F7A8C"/>
                </a:solidFill>
                <a:latin typeface="Calibri"/>
              </a:rPr>
              <a:t>1</a:t>
            </a:r>
          </a:p>
          <a:p>
            <a:pPr algn="l">
              <a:lnSpc>
                <a:spcPct val="100000"/>
              </a:lnSpc>
              <a:spcAft>
                <a:spcPts val="800"/>
              </a:spcAft>
            </a:pPr>
            <a:r>
              <a:rPr sz="1700" b="1">
                <a:solidFill>
                  <a:srgbClr val="0F2A43"/>
                </a:solidFill>
                <a:latin typeface="Calibri"/>
              </a:rPr>
              <a:t>Data Sub-Agents</a:t>
            </a:r>
          </a:p>
          <a:p>
            <a:pPr algn="l">
              <a:lnSpc>
                <a:spcPct val="100000"/>
              </a:lnSpc>
              <a:spcAft>
                <a:spcPts val="800"/>
              </a:spcAft>
            </a:pPr>
            <a:r>
              <a:rPr sz="1250" b="0">
                <a:solidFill>
                  <a:srgbClr val="222B33"/>
                </a:solidFill>
                <a:latin typeface="Calibri"/>
              </a:rPr>
              <a:t>3 SQL queries gather accurate numbers and real reviews.</a:t>
            </a:r>
          </a:p>
        </p:txBody>
      </p:sp>
      <p:sp>
        <p:nvSpPr>
          <p:cNvPr id="8" name="Rectangle 7"/>
          <p:cNvSpPr/>
          <p:nvPr/>
        </p:nvSpPr>
        <p:spPr>
          <a:xfrm>
            <a:off x="502920"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64992" y="1691640"/>
            <a:ext cx="26151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3000" b="1">
                <a:solidFill>
                  <a:srgbClr val="1F7A8C"/>
                </a:solidFill>
                <a:latin typeface="Calibri"/>
              </a:rPr>
              <a:t>2</a:t>
            </a:r>
          </a:p>
          <a:p>
            <a:pPr algn="l">
              <a:lnSpc>
                <a:spcPct val="100000"/>
              </a:lnSpc>
              <a:spcAft>
                <a:spcPts val="800"/>
              </a:spcAft>
            </a:pPr>
            <a:r>
              <a:rPr sz="1700" b="1">
                <a:solidFill>
                  <a:srgbClr val="0F2A43"/>
                </a:solidFill>
                <a:latin typeface="Calibri"/>
              </a:rPr>
              <a:t>Copywriter</a:t>
            </a:r>
          </a:p>
          <a:p>
            <a:pPr algn="l">
              <a:lnSpc>
                <a:spcPct val="100000"/>
              </a:lnSpc>
              <a:spcAft>
                <a:spcPts val="800"/>
              </a:spcAft>
            </a:pPr>
            <a:r>
              <a:rPr sz="1250" b="0">
                <a:solidFill>
                  <a:srgbClr val="222B33"/>
                </a:solidFill>
                <a:latin typeface="Calibri"/>
              </a:rPr>
              <a:t>One LLM call drafts 3 channel-specific formats.</a:t>
            </a:r>
          </a:p>
        </p:txBody>
      </p:sp>
      <p:sp>
        <p:nvSpPr>
          <p:cNvPr id="10" name="Rectangle 9"/>
          <p:cNvSpPr/>
          <p:nvPr/>
        </p:nvSpPr>
        <p:spPr>
          <a:xfrm>
            <a:off x="3364992"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27064" y="1691640"/>
            <a:ext cx="26151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3000" b="1">
                <a:solidFill>
                  <a:srgbClr val="1F7A8C"/>
                </a:solidFill>
                <a:latin typeface="Calibri"/>
              </a:rPr>
              <a:t>3</a:t>
            </a:r>
          </a:p>
          <a:p>
            <a:pPr algn="l">
              <a:lnSpc>
                <a:spcPct val="100000"/>
              </a:lnSpc>
              <a:spcAft>
                <a:spcPts val="800"/>
              </a:spcAft>
            </a:pPr>
            <a:r>
              <a:rPr sz="1700" b="1">
                <a:solidFill>
                  <a:srgbClr val="0F2A43"/>
                </a:solidFill>
                <a:latin typeface="Calibri"/>
              </a:rPr>
              <a:t>Reviewer</a:t>
            </a:r>
          </a:p>
          <a:p>
            <a:pPr algn="l">
              <a:lnSpc>
                <a:spcPct val="100000"/>
              </a:lnSpc>
              <a:spcAft>
                <a:spcPts val="800"/>
              </a:spcAft>
            </a:pPr>
            <a:r>
              <a:rPr sz="1250" b="0">
                <a:solidFill>
                  <a:srgbClr val="222B33"/>
                </a:solidFill>
                <a:latin typeface="Calibri"/>
              </a:rPr>
              <a:t>Scores and revises to block hallucinated claims.</a:t>
            </a:r>
          </a:p>
        </p:txBody>
      </p:sp>
      <p:sp>
        <p:nvSpPr>
          <p:cNvPr id="12" name="Rectangle 11"/>
          <p:cNvSpPr/>
          <p:nvPr/>
        </p:nvSpPr>
        <p:spPr>
          <a:xfrm>
            <a:off x="6227064"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089136" y="1691640"/>
            <a:ext cx="26151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3000" b="1">
                <a:solidFill>
                  <a:srgbClr val="F18F01"/>
                </a:solidFill>
                <a:latin typeface="Calibri"/>
              </a:rPr>
              <a:t>4</a:t>
            </a:r>
          </a:p>
          <a:p>
            <a:pPr algn="l">
              <a:lnSpc>
                <a:spcPct val="100000"/>
              </a:lnSpc>
              <a:spcAft>
                <a:spcPts val="800"/>
              </a:spcAft>
            </a:pPr>
            <a:r>
              <a:rPr sz="1700" b="1">
                <a:solidFill>
                  <a:srgbClr val="0F2A43"/>
                </a:solidFill>
                <a:latin typeface="Calibri"/>
              </a:rPr>
              <a:t>Delivery</a:t>
            </a:r>
          </a:p>
          <a:p>
            <a:pPr algn="l">
              <a:lnSpc>
                <a:spcPct val="100000"/>
              </a:lnSpc>
              <a:spcAft>
                <a:spcPts val="800"/>
              </a:spcAft>
            </a:pPr>
            <a:r>
              <a:rPr sz="1250" b="0">
                <a:solidFill>
                  <a:srgbClr val="222B33"/>
                </a:solidFill>
                <a:latin typeface="Calibri"/>
              </a:rPr>
              <a:t>Clean, copy-paste content sent to Telegram.</a:t>
            </a:r>
          </a:p>
        </p:txBody>
      </p:sp>
      <p:sp>
        <p:nvSpPr>
          <p:cNvPr id="14" name="Rectangle 13"/>
          <p:cNvSpPr/>
          <p:nvPr/>
        </p:nvSpPr>
        <p:spPr>
          <a:xfrm>
            <a:off x="9089136" y="1691640"/>
            <a:ext cx="82296" cy="2377440"/>
          </a:xfrm>
          <a:prstGeom prst="rect">
            <a:avLst/>
          </a:prstGeom>
          <a:solidFill>
            <a:srgbClr val="F18F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3131820" y="2788920"/>
            <a:ext cx="219456" cy="274320"/>
          </a:xfrm>
          <a:prstGeom prst="rightArrow">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5993892" y="2788920"/>
            <a:ext cx="219456" cy="274320"/>
          </a:xfrm>
          <a:prstGeom prst="rightArrow">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8855964" y="2788920"/>
            <a:ext cx="219456" cy="274320"/>
          </a:xfrm>
          <a:prstGeom prst="rightArrow">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4526280"/>
            <a:ext cx="11201400" cy="1280160"/>
          </a:xfrm>
          <a:prstGeom prst="rect">
            <a:avLst/>
          </a:prstGeom>
          <a:noFill/>
        </p:spPr>
        <p:txBody>
          <a:bodyPr wrap="square" lIns="0" tIns="0" rIns="0" bIns="0" anchor="t">
            <a:spAutoFit/>
          </a:bodyPr>
          <a:lstStyle/>
          <a:p>
            <a:pPr algn="l">
              <a:lnSpc>
                <a:spcPct val="100000"/>
              </a:lnSpc>
              <a:spcAft>
                <a:spcPts val="400"/>
              </a:spcAft>
            </a:pPr>
            <a:r>
              <a:rPr sz="1500" b="1">
                <a:solidFill>
                  <a:srgbClr val="0F2A43"/>
                </a:solidFill>
                <a:latin typeface="Calibri"/>
              </a:rPr>
              <a:t>The core idea:  </a:t>
            </a:r>
            <a:r>
              <a:rPr sz="1500" b="0">
                <a:solidFill>
                  <a:srgbClr val="222B33"/>
                </a:solidFill>
                <a:latin typeface="Calibri"/>
              </a:rPr>
              <a:t>SQL sub-agents provide accurate figures, the copywriter adds creative structure, the reviewer blocks false claims, and Telegram enables fast action.</a:t>
            </a:r>
          </a:p>
        </p:txBody>
      </p:sp>
      <p:sp>
        <p:nvSpPr>
          <p:cNvPr id="19" name="TextBox 18"/>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20" name="TextBox 19"/>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0"/>
            <a:ext cx="12191695" cy="5486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468880"/>
            <a:ext cx="10515600" cy="457200"/>
          </a:xfrm>
          <a:prstGeom prst="rect">
            <a:avLst/>
          </a:prstGeom>
          <a:noFill/>
        </p:spPr>
        <p:txBody>
          <a:bodyPr wrap="square" lIns="0" tIns="0" rIns="0" bIns="0" anchor="t">
            <a:spAutoFit/>
          </a:bodyPr>
          <a:lstStyle/>
          <a:p>
            <a:pPr algn="l">
              <a:lnSpc>
                <a:spcPct val="100000"/>
              </a:lnSpc>
              <a:spcAft>
                <a:spcPts val="400"/>
              </a:spcAft>
            </a:pPr>
            <a:r>
              <a:rPr sz="1600" b="1">
                <a:solidFill>
                  <a:srgbClr val="7FD4E0"/>
                </a:solidFill>
                <a:latin typeface="Calibri"/>
              </a:rPr>
              <a:t>PART 2</a:t>
            </a:r>
          </a:p>
        </p:txBody>
      </p:sp>
      <p:sp>
        <p:nvSpPr>
          <p:cNvPr id="5" name="TextBox 4"/>
          <p:cNvSpPr txBox="1"/>
          <p:nvPr/>
        </p:nvSpPr>
        <p:spPr>
          <a:xfrm>
            <a:off x="822960" y="2971800"/>
            <a:ext cx="10515600" cy="914400"/>
          </a:xfrm>
          <a:prstGeom prst="rect">
            <a:avLst/>
          </a:prstGeom>
          <a:noFill/>
        </p:spPr>
        <p:txBody>
          <a:bodyPr wrap="square" lIns="0" tIns="0" rIns="0" bIns="0" anchor="t">
            <a:spAutoFit/>
          </a:bodyPr>
          <a:lstStyle/>
          <a:p>
            <a:pPr algn="l">
              <a:lnSpc>
                <a:spcPct val="100000"/>
              </a:lnSpc>
              <a:spcAft>
                <a:spcPts val="400"/>
              </a:spcAft>
            </a:pPr>
            <a:r>
              <a:rPr sz="4800" b="1">
                <a:solidFill>
                  <a:srgbClr val="FFFFFF"/>
                </a:solidFill>
                <a:latin typeface="Calibri"/>
              </a:rPr>
              <a:t>Live Demonstration</a:t>
            </a:r>
          </a:p>
        </p:txBody>
      </p:sp>
      <p:sp>
        <p:nvSpPr>
          <p:cNvPr id="6" name="TextBox 5"/>
          <p:cNvSpPr txBox="1"/>
          <p:nvPr/>
        </p:nvSpPr>
        <p:spPr>
          <a:xfrm>
            <a:off x="822960" y="3977639"/>
            <a:ext cx="10515600" cy="731520"/>
          </a:xfrm>
          <a:prstGeom prst="rect">
            <a:avLst/>
          </a:prstGeom>
          <a:noFill/>
        </p:spPr>
        <p:txBody>
          <a:bodyPr wrap="square" lIns="0" tIns="0" rIns="0" bIns="0" anchor="t">
            <a:spAutoFit/>
          </a:bodyPr>
          <a:lstStyle/>
          <a:p>
            <a:pPr algn="l">
              <a:lnSpc>
                <a:spcPct val="100000"/>
              </a:lnSpc>
              <a:spcAft>
                <a:spcPts val="400"/>
              </a:spcAft>
            </a:pPr>
            <a:r>
              <a:rPr sz="1800" b="0">
                <a:solidFill>
                  <a:srgbClr val="C9D8E8"/>
                </a:solidFill>
                <a:latin typeface="Calibri"/>
              </a:rPr>
              <a:t>From a terminal command to a ready-to-publish Telegram message - in seconds.</a:t>
            </a:r>
          </a:p>
        </p:txBody>
      </p:sp>
      <p:sp>
        <p:nvSpPr>
          <p:cNvPr id="7" name="TextBox 6"/>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8" name="TextBox 7"/>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LIVE DEMONSTRATION - 1 OF 5</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Setup &amp; Seed Data</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Start the database, create the schema, and load a deterministic demo dataset</a:t>
            </a:r>
          </a:p>
        </p:txBody>
      </p:sp>
      <p:sp>
        <p:nvSpPr>
          <p:cNvPr id="7" name="Rectangle 6"/>
          <p:cNvSpPr/>
          <p:nvPr/>
        </p:nvSpPr>
        <p:spPr>
          <a:xfrm>
            <a:off x="502920" y="1691640"/>
            <a:ext cx="5760720" cy="3108960"/>
          </a:xfrm>
          <a:prstGeom prst="rect">
            <a:avLst/>
          </a:prstGeom>
          <a:solidFill>
            <a:srgbClr val="112233"/>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82880" rIns="182880" rtlCol="0" anchor="ctr"/>
          <a:lstStyle/>
          <a:p>
            <a:pPr>
              <a:spcAft>
                <a:spcPts val="1400"/>
              </a:spcAft>
            </a:pPr>
            <a:r>
              <a:rPr sz="1600" b="1" dirty="0">
                <a:solidFill>
                  <a:srgbClr val="F18F01"/>
                </a:solidFill>
                <a:latin typeface="Consolas"/>
              </a:rPr>
              <a:t>$ </a:t>
            </a:r>
            <a:r>
              <a:rPr sz="1600" dirty="0">
                <a:solidFill>
                  <a:srgbClr val="E8EEF4"/>
                </a:solidFill>
                <a:latin typeface="Consolas"/>
              </a:rPr>
              <a:t>docker compose up -d</a:t>
            </a:r>
            <a:endParaRPr lang="en-US" sz="1600" b="1" dirty="0">
              <a:solidFill>
                <a:srgbClr val="F18F01"/>
              </a:solidFill>
              <a:latin typeface="Consolas"/>
            </a:endParaRPr>
          </a:p>
          <a:p>
            <a:pPr>
              <a:spcAft>
                <a:spcPts val="1400"/>
              </a:spcAft>
            </a:pPr>
            <a:r>
              <a:rPr sz="1600" b="1" dirty="0">
                <a:solidFill>
                  <a:srgbClr val="F18F01"/>
                </a:solidFill>
                <a:latin typeface="Consolas"/>
              </a:rPr>
              <a:t>$ </a:t>
            </a:r>
            <a:r>
              <a:rPr sz="1600" dirty="0" err="1">
                <a:solidFill>
                  <a:srgbClr val="E8EEF4"/>
                </a:solidFill>
                <a:latin typeface="Consolas"/>
              </a:rPr>
              <a:t>uv</a:t>
            </a:r>
            <a:r>
              <a:rPr sz="1600" dirty="0">
                <a:solidFill>
                  <a:srgbClr val="E8EEF4"/>
                </a:solidFill>
                <a:latin typeface="Consolas"/>
              </a:rPr>
              <a:t> run python -m </a:t>
            </a:r>
            <a:r>
              <a:rPr sz="1600" dirty="0" err="1">
                <a:solidFill>
                  <a:srgbClr val="E8EEF4"/>
                </a:solidFill>
                <a:latin typeface="Consolas"/>
              </a:rPr>
              <a:t>app.cli</a:t>
            </a:r>
            <a:r>
              <a:rPr sz="1600" dirty="0">
                <a:solidFill>
                  <a:srgbClr val="E8EEF4"/>
                </a:solidFill>
                <a:latin typeface="Consolas"/>
              </a:rPr>
              <a:t> </a:t>
            </a:r>
            <a:r>
              <a:rPr sz="1600" dirty="0" err="1">
                <a:solidFill>
                  <a:srgbClr val="E8EEF4"/>
                </a:solidFill>
                <a:latin typeface="Consolas"/>
              </a:rPr>
              <a:t>init-db</a:t>
            </a:r>
            <a:endParaRPr sz="1600" dirty="0">
              <a:solidFill>
                <a:srgbClr val="E8EEF4"/>
              </a:solidFill>
              <a:latin typeface="Consolas"/>
            </a:endParaRPr>
          </a:p>
          <a:p>
            <a:pPr>
              <a:spcAft>
                <a:spcPts val="1400"/>
              </a:spcAft>
            </a:pPr>
            <a:r>
              <a:rPr sz="1600" b="1" dirty="0">
                <a:solidFill>
                  <a:srgbClr val="F18F01"/>
                </a:solidFill>
                <a:latin typeface="Consolas"/>
              </a:rPr>
              <a:t>$ </a:t>
            </a:r>
            <a:r>
              <a:rPr sz="1600" dirty="0" err="1">
                <a:solidFill>
                  <a:srgbClr val="E8EEF4"/>
                </a:solidFill>
                <a:latin typeface="Consolas"/>
              </a:rPr>
              <a:t>uv</a:t>
            </a:r>
            <a:r>
              <a:rPr sz="1600" dirty="0">
                <a:solidFill>
                  <a:srgbClr val="E8EEF4"/>
                </a:solidFill>
                <a:latin typeface="Consolas"/>
              </a:rPr>
              <a:t> run python -m </a:t>
            </a:r>
            <a:r>
              <a:rPr sz="1600" dirty="0" err="1">
                <a:solidFill>
                  <a:srgbClr val="E8EEF4"/>
                </a:solidFill>
                <a:latin typeface="Consolas"/>
              </a:rPr>
              <a:t>app.cli</a:t>
            </a:r>
            <a:r>
              <a:rPr sz="1600" dirty="0">
                <a:solidFill>
                  <a:srgbClr val="E8EEF4"/>
                </a:solidFill>
                <a:latin typeface="Consolas"/>
              </a:rPr>
              <a:t> seed</a:t>
            </a:r>
          </a:p>
        </p:txBody>
      </p:sp>
      <p:sp>
        <p:nvSpPr>
          <p:cNvPr id="8" name="TextBox 7"/>
          <p:cNvSpPr txBox="1"/>
          <p:nvPr/>
        </p:nvSpPr>
        <p:spPr>
          <a:xfrm>
            <a:off x="6675120" y="1737360"/>
            <a:ext cx="5029200" cy="365760"/>
          </a:xfrm>
          <a:prstGeom prst="rect">
            <a:avLst/>
          </a:prstGeom>
          <a:noFill/>
        </p:spPr>
        <p:txBody>
          <a:bodyPr wrap="square" lIns="0" tIns="0" rIns="0" bIns="0" anchor="t">
            <a:spAutoFit/>
          </a:bodyPr>
          <a:lstStyle/>
          <a:p>
            <a:pPr algn="l">
              <a:lnSpc>
                <a:spcPct val="100000"/>
              </a:lnSpc>
              <a:spcAft>
                <a:spcPts val="400"/>
              </a:spcAft>
            </a:pPr>
            <a:r>
              <a:rPr sz="1500" b="1">
                <a:solidFill>
                  <a:srgbClr val="0F2A43"/>
                </a:solidFill>
                <a:latin typeface="Calibri"/>
              </a:rPr>
              <a:t>Demo dataset (fully deterministic):</a:t>
            </a:r>
          </a:p>
        </p:txBody>
      </p:sp>
      <p:sp>
        <p:nvSpPr>
          <p:cNvPr id="9" name="Rounded Rectangle 8"/>
          <p:cNvSpPr/>
          <p:nvPr/>
        </p:nvSpPr>
        <p:spPr>
          <a:xfrm>
            <a:off x="6675120" y="2240280"/>
            <a:ext cx="5029200" cy="77724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lnSpc>
                <a:spcPct val="100000"/>
              </a:lnSpc>
              <a:spcAft>
                <a:spcPts val="400"/>
              </a:spcAft>
            </a:pPr>
            <a:r>
              <a:rPr sz="2000" b="1">
                <a:solidFill>
                  <a:srgbClr val="1F7A8C"/>
                </a:solidFill>
                <a:latin typeface="Calibri"/>
              </a:rPr>
              <a:t>7  </a:t>
            </a:r>
            <a:r>
              <a:rPr sz="1500" b="0">
                <a:solidFill>
                  <a:srgbClr val="222B33"/>
                </a:solidFill>
                <a:latin typeface="Calibri"/>
              </a:rPr>
              <a:t>fashion SKUs</a:t>
            </a:r>
          </a:p>
        </p:txBody>
      </p:sp>
      <p:sp>
        <p:nvSpPr>
          <p:cNvPr id="10" name="Rounded Rectangle 9"/>
          <p:cNvSpPr/>
          <p:nvPr/>
        </p:nvSpPr>
        <p:spPr>
          <a:xfrm>
            <a:off x="6675120" y="3200400"/>
            <a:ext cx="5029200" cy="77724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lnSpc>
                <a:spcPct val="100000"/>
              </a:lnSpc>
              <a:spcAft>
                <a:spcPts val="400"/>
              </a:spcAft>
            </a:pPr>
            <a:r>
              <a:rPr sz="2000" b="1">
                <a:solidFill>
                  <a:srgbClr val="1F7A8C"/>
                </a:solidFill>
                <a:latin typeface="Calibri"/>
              </a:rPr>
              <a:t>94  </a:t>
            </a:r>
            <a:r>
              <a:rPr sz="1500" b="0">
                <a:solidFill>
                  <a:srgbClr val="222B33"/>
                </a:solidFill>
                <a:latin typeface="Calibri"/>
              </a:rPr>
              <a:t>orders</a:t>
            </a:r>
          </a:p>
        </p:txBody>
      </p:sp>
      <p:sp>
        <p:nvSpPr>
          <p:cNvPr id="11" name="Rounded Rectangle 10"/>
          <p:cNvSpPr/>
          <p:nvPr/>
        </p:nvSpPr>
        <p:spPr>
          <a:xfrm>
            <a:off x="6675120" y="4160520"/>
            <a:ext cx="5029200" cy="77724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lnSpc>
                <a:spcPct val="100000"/>
              </a:lnSpc>
              <a:spcAft>
                <a:spcPts val="400"/>
              </a:spcAft>
            </a:pPr>
            <a:r>
              <a:rPr sz="2000" b="1">
                <a:solidFill>
                  <a:srgbClr val="1F7A8C"/>
                </a:solidFill>
                <a:latin typeface="Calibri"/>
              </a:rPr>
              <a:t>23  </a:t>
            </a:r>
            <a:r>
              <a:rPr sz="1500" b="0">
                <a:solidFill>
                  <a:srgbClr val="222B33"/>
                </a:solidFill>
                <a:latin typeface="Calibri"/>
              </a:rPr>
              <a:t>customer reviews</a:t>
            </a:r>
          </a:p>
        </p:txBody>
      </p:sp>
      <p:sp>
        <p:nvSpPr>
          <p:cNvPr id="12" name="TextBox 11"/>
          <p:cNvSpPr txBox="1"/>
          <p:nvPr/>
        </p:nvSpPr>
        <p:spPr>
          <a:xfrm>
            <a:off x="502920" y="5120640"/>
            <a:ext cx="11201400" cy="822960"/>
          </a:xfrm>
          <a:prstGeom prst="rect">
            <a:avLst/>
          </a:prstGeom>
          <a:noFill/>
        </p:spPr>
        <p:txBody>
          <a:bodyPr wrap="square" lIns="0" tIns="0" rIns="0" bIns="0" anchor="t">
            <a:spAutoFit/>
          </a:bodyPr>
          <a:lstStyle/>
          <a:p>
            <a:pPr algn="l">
              <a:lnSpc>
                <a:spcPct val="100000"/>
              </a:lnSpc>
              <a:spcAft>
                <a:spcPts val="400"/>
              </a:spcAft>
            </a:pPr>
            <a:r>
              <a:rPr sz="1400" b="0">
                <a:solidFill>
                  <a:srgbClr val="5A6B7B"/>
                </a:solidFill>
                <a:latin typeface="Calibri"/>
              </a:rPr>
              <a:t>Every run is reproducible on any machine, so the demo behaves identically for every audience.</a:t>
            </a:r>
          </a:p>
        </p:txBody>
      </p:sp>
      <p:sp>
        <p:nvSpPr>
          <p:cNvPr id="13" name="TextBox 12"/>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4" name="TextBox 13"/>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LIVE DEMONSTRATION - 2 OF 5</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Three Data Sub-Agents</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Accurate SQL queries - not LLM guesses - assemble the driving data</a:t>
            </a:r>
          </a:p>
        </p:txBody>
      </p:sp>
      <p:sp>
        <p:nvSpPr>
          <p:cNvPr id="7" name="Rounded Rectangle 6"/>
          <p:cNvSpPr/>
          <p:nvPr/>
        </p:nvSpPr>
        <p:spPr>
          <a:xfrm>
            <a:off x="502920" y="1691640"/>
            <a:ext cx="3529584" cy="301752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2800" b="0">
                <a:solidFill>
                  <a:srgbClr val="F18F01"/>
                </a:solidFill>
                <a:latin typeface="Calibri"/>
              </a:rPr>
              <a:t>🔎</a:t>
            </a:r>
          </a:p>
          <a:p>
            <a:pPr algn="l">
              <a:lnSpc>
                <a:spcPct val="100000"/>
              </a:lnSpc>
              <a:spcAft>
                <a:spcPts val="1000"/>
              </a:spcAft>
            </a:pPr>
            <a:r>
              <a:rPr sz="1700" b="1">
                <a:solidFill>
                  <a:srgbClr val="0F2A43"/>
                </a:solidFill>
                <a:latin typeface="Calibri"/>
              </a:rPr>
              <a:t>Sales Velocity Monitor</a:t>
            </a:r>
          </a:p>
          <a:p>
            <a:pPr algn="l">
              <a:lnSpc>
                <a:spcPct val="100000"/>
              </a:lnSpc>
              <a:spcAft>
                <a:spcPts val="1000"/>
              </a:spcAft>
            </a:pPr>
            <a:r>
              <a:rPr sz="1300" b="0">
                <a:solidFill>
                  <a:srgbClr val="222B33"/>
                </a:solidFill>
                <a:latin typeface="Calibri"/>
              </a:rPr>
              <a:t>Best-selling SKUs in the last 24 hours and 7 days, by orders and revenue - for FOMO-driven promos.</a:t>
            </a:r>
          </a:p>
        </p:txBody>
      </p:sp>
      <p:sp>
        <p:nvSpPr>
          <p:cNvPr id="8" name="Rectangle 7"/>
          <p:cNvSpPr/>
          <p:nvPr/>
        </p:nvSpPr>
        <p:spPr>
          <a:xfrm>
            <a:off x="502920" y="1691640"/>
            <a:ext cx="82296" cy="30175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4256" y="1691640"/>
            <a:ext cx="3529584" cy="301752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2800" b="0">
                <a:solidFill>
                  <a:srgbClr val="F18F01"/>
                </a:solidFill>
                <a:latin typeface="Calibri"/>
              </a:rPr>
              <a:t>📦</a:t>
            </a:r>
          </a:p>
          <a:p>
            <a:pPr algn="l">
              <a:lnSpc>
                <a:spcPct val="100000"/>
              </a:lnSpc>
              <a:spcAft>
                <a:spcPts val="1000"/>
              </a:spcAft>
            </a:pPr>
            <a:r>
              <a:rPr sz="1700" b="1">
                <a:solidFill>
                  <a:srgbClr val="0F2A43"/>
                </a:solidFill>
                <a:latin typeface="Calibri"/>
              </a:rPr>
              <a:t>Deadstock Monitor</a:t>
            </a:r>
          </a:p>
          <a:p>
            <a:pPr algn="l">
              <a:lnSpc>
                <a:spcPct val="100000"/>
              </a:lnSpc>
              <a:spcAft>
                <a:spcPts val="1000"/>
              </a:spcAft>
            </a:pPr>
            <a:r>
              <a:rPr sz="1300" b="0">
                <a:solidFill>
                  <a:srgbClr val="222B33"/>
                </a:solidFill>
                <a:latin typeface="Calibri"/>
              </a:rPr>
              <a:t>SKUs piling up (40+ pcs, listed over 30 days, low 7-day orders) - clearance-sale candidates.</a:t>
            </a:r>
          </a:p>
        </p:txBody>
      </p:sp>
      <p:sp>
        <p:nvSpPr>
          <p:cNvPr id="10" name="Rectangle 9"/>
          <p:cNvSpPr/>
          <p:nvPr/>
        </p:nvSpPr>
        <p:spPr>
          <a:xfrm>
            <a:off x="4334256" y="1691640"/>
            <a:ext cx="82296" cy="30175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5592" y="1691640"/>
            <a:ext cx="3529584" cy="301752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2800" b="0">
                <a:solidFill>
                  <a:srgbClr val="F18F01"/>
                </a:solidFill>
                <a:latin typeface="Calibri"/>
              </a:rPr>
              <a:t>⭐</a:t>
            </a:r>
          </a:p>
          <a:p>
            <a:pPr algn="l">
              <a:lnSpc>
                <a:spcPct val="100000"/>
              </a:lnSpc>
              <a:spcAft>
                <a:spcPts val="1000"/>
              </a:spcAft>
            </a:pPr>
            <a:r>
              <a:rPr sz="1700" b="1">
                <a:solidFill>
                  <a:srgbClr val="0F2A43"/>
                </a:solidFill>
                <a:latin typeface="Calibri"/>
              </a:rPr>
              <a:t>Social Proof Miner</a:t>
            </a:r>
          </a:p>
          <a:p>
            <a:pPr algn="l">
              <a:lnSpc>
                <a:spcPct val="100000"/>
              </a:lnSpc>
              <a:spcAft>
                <a:spcPts val="1000"/>
              </a:spcAft>
            </a:pPr>
            <a:r>
              <a:rPr sz="1300" b="0">
                <a:solidFill>
                  <a:srgbClr val="222B33"/>
                </a:solidFill>
                <a:latin typeface="Calibri"/>
              </a:rPr>
              <a:t>The 3 most recent 5-star reviews plus the average rating - authentic testimonials for the copy.</a:t>
            </a:r>
          </a:p>
        </p:txBody>
      </p:sp>
      <p:sp>
        <p:nvSpPr>
          <p:cNvPr id="12" name="Rectangle 11"/>
          <p:cNvSpPr/>
          <p:nvPr/>
        </p:nvSpPr>
        <p:spPr>
          <a:xfrm>
            <a:off x="8165592" y="1691640"/>
            <a:ext cx="82296" cy="30175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5029200"/>
            <a:ext cx="11201400" cy="822960"/>
          </a:xfrm>
          <a:prstGeom prst="rect">
            <a:avLst/>
          </a:prstGeom>
          <a:noFill/>
        </p:spPr>
        <p:txBody>
          <a:bodyPr wrap="square" lIns="0" tIns="0" rIns="0" bIns="0" anchor="t">
            <a:spAutoFit/>
          </a:bodyPr>
          <a:lstStyle/>
          <a:p>
            <a:pPr algn="l">
              <a:lnSpc>
                <a:spcPct val="100000"/>
              </a:lnSpc>
              <a:spcAft>
                <a:spcPts val="400"/>
              </a:spcAft>
            </a:pPr>
            <a:r>
              <a:rPr sz="1400" b="0">
                <a:solidFill>
                  <a:srgbClr val="5A6B7B"/>
                </a:solidFill>
                <a:latin typeface="Calibri"/>
              </a:rPr>
              <a:t>They run in parallel and return a single context object - the only source of figures the copywriter may use.</a:t>
            </a:r>
          </a:p>
        </p:txBody>
      </p:sp>
      <p:sp>
        <p:nvSpPr>
          <p:cNvPr id="14" name="TextBox 13"/>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5" name="TextBox 14"/>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LIVE DEMONSTRATION - 3 OF 5</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One Prompt, Three Ready-to-Use Formats</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The ADK Copywriter Agent drafts every channel's content at once</a:t>
            </a:r>
          </a:p>
        </p:txBody>
      </p:sp>
      <p:sp>
        <p:nvSpPr>
          <p:cNvPr id="7" name="Rounded Rectangle 6"/>
          <p:cNvSpPr/>
          <p:nvPr/>
        </p:nvSpPr>
        <p:spPr>
          <a:xfrm>
            <a:off x="502920" y="1691640"/>
            <a:ext cx="35295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2600" b="0">
                <a:solidFill>
                  <a:srgbClr val="F18F01"/>
                </a:solidFill>
                <a:latin typeface="Calibri"/>
              </a:rPr>
              <a:t>🎬</a:t>
            </a:r>
          </a:p>
          <a:p>
            <a:pPr algn="l">
              <a:lnSpc>
                <a:spcPct val="100000"/>
              </a:lnSpc>
              <a:spcAft>
                <a:spcPts val="800"/>
              </a:spcAft>
            </a:pPr>
            <a:r>
              <a:rPr sz="1600" b="1">
                <a:solidFill>
                  <a:srgbClr val="0F2A43"/>
                </a:solidFill>
                <a:latin typeface="Calibri"/>
              </a:rPr>
              <a:t>TikTok &amp; Shopee Video</a:t>
            </a:r>
          </a:p>
          <a:p>
            <a:pPr algn="l">
              <a:lnSpc>
                <a:spcPct val="100000"/>
              </a:lnSpc>
              <a:spcAft>
                <a:spcPts val="800"/>
              </a:spcAft>
            </a:pPr>
            <a:r>
              <a:rPr sz="1300" b="0">
                <a:solidFill>
                  <a:srgbClr val="222B33"/>
                </a:solidFill>
                <a:latin typeface="Calibri"/>
              </a:rPr>
              <a:t>15-second script with [Visual], [Hook], [Body], and [CTA] markers.</a:t>
            </a:r>
          </a:p>
        </p:txBody>
      </p:sp>
      <p:sp>
        <p:nvSpPr>
          <p:cNvPr id="8" name="Rectangle 7"/>
          <p:cNvSpPr/>
          <p:nvPr/>
        </p:nvSpPr>
        <p:spPr>
          <a:xfrm>
            <a:off x="502920"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4256" y="1691640"/>
            <a:ext cx="35295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2600" b="0">
                <a:solidFill>
                  <a:srgbClr val="F18F01"/>
                </a:solidFill>
                <a:latin typeface="Calibri"/>
              </a:rPr>
              <a:t>📸</a:t>
            </a:r>
          </a:p>
          <a:p>
            <a:pPr algn="l">
              <a:lnSpc>
                <a:spcPct val="100000"/>
              </a:lnSpc>
              <a:spcAft>
                <a:spcPts val="800"/>
              </a:spcAft>
            </a:pPr>
            <a:r>
              <a:rPr sz="1600" b="1">
                <a:solidFill>
                  <a:srgbClr val="0F2A43"/>
                </a:solidFill>
                <a:latin typeface="Calibri"/>
              </a:rPr>
              <a:t>Instagram &amp; Shopee Feed</a:t>
            </a:r>
          </a:p>
          <a:p>
            <a:pPr algn="l">
              <a:lnSpc>
                <a:spcPct val="100000"/>
              </a:lnSpc>
              <a:spcAft>
                <a:spcPts val="800"/>
              </a:spcAft>
            </a:pPr>
            <a:r>
              <a:rPr sz="1300" b="0">
                <a:solidFill>
                  <a:srgbClr val="222B33"/>
                </a:solidFill>
                <a:latin typeface="Calibri"/>
              </a:rPr>
              <a:t>Testimonial-led storytelling, emoji bullets, CTA, and hashtags.</a:t>
            </a:r>
          </a:p>
        </p:txBody>
      </p:sp>
      <p:sp>
        <p:nvSpPr>
          <p:cNvPr id="10" name="Rectangle 9"/>
          <p:cNvSpPr/>
          <p:nvPr/>
        </p:nvSpPr>
        <p:spPr>
          <a:xfrm>
            <a:off x="4334256"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5592" y="1691640"/>
            <a:ext cx="3529584" cy="237744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800"/>
              </a:spcAft>
            </a:pPr>
            <a:r>
              <a:rPr sz="2600" b="0">
                <a:solidFill>
                  <a:srgbClr val="F18F01"/>
                </a:solidFill>
                <a:latin typeface="Calibri"/>
              </a:rPr>
              <a:t>💬</a:t>
            </a:r>
          </a:p>
          <a:p>
            <a:pPr algn="l">
              <a:lnSpc>
                <a:spcPct val="100000"/>
              </a:lnSpc>
              <a:spcAft>
                <a:spcPts val="800"/>
              </a:spcAft>
            </a:pPr>
            <a:r>
              <a:rPr sz="1600" b="1">
                <a:solidFill>
                  <a:srgbClr val="0F2A43"/>
                </a:solidFill>
                <a:latin typeface="Calibri"/>
              </a:rPr>
              <a:t>Shopee Broadcast / WhatsApp</a:t>
            </a:r>
          </a:p>
          <a:p>
            <a:pPr algn="l">
              <a:lnSpc>
                <a:spcPct val="100000"/>
              </a:lnSpc>
              <a:spcAft>
                <a:spcPts val="800"/>
              </a:spcAft>
            </a:pPr>
            <a:r>
              <a:rPr sz="1300" b="0">
                <a:solidFill>
                  <a:srgbClr val="222B33"/>
                </a:solidFill>
                <a:latin typeface="Calibri"/>
              </a:rPr>
              <a:t>Under 50 words, urgent, direct-to-link, no hashtags.</a:t>
            </a:r>
          </a:p>
        </p:txBody>
      </p:sp>
      <p:sp>
        <p:nvSpPr>
          <p:cNvPr id="12" name="Rectangle 11"/>
          <p:cNvSpPr/>
          <p:nvPr/>
        </p:nvSpPr>
        <p:spPr>
          <a:xfrm>
            <a:off x="8165592" y="1691640"/>
            <a:ext cx="82296" cy="2377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4389120"/>
            <a:ext cx="11201400" cy="1371600"/>
          </a:xfrm>
          <a:prstGeom prst="roundRect">
            <a:avLst/>
          </a:prstGeom>
          <a:solidFill>
            <a:srgbClr val="E1F0F3"/>
          </a:solidFill>
          <a:ln w="12700">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lnSpc>
                <a:spcPct val="100000"/>
              </a:lnSpc>
              <a:spcAft>
                <a:spcPts val="600"/>
              </a:spcAft>
            </a:pPr>
            <a:r>
              <a:rPr sz="1500" b="1">
                <a:solidFill>
                  <a:srgbClr val="0F2A43"/>
                </a:solidFill>
                <a:latin typeface="Calibri"/>
              </a:rPr>
              <a:t>Brand voice as a config file</a:t>
            </a:r>
          </a:p>
          <a:p>
            <a:pPr algn="l">
              <a:lnSpc>
                <a:spcPct val="100000"/>
              </a:lnSpc>
              <a:spcAft>
                <a:spcPts val="600"/>
              </a:spcAft>
            </a:pPr>
            <a:r>
              <a:rPr sz="1350" b="0">
                <a:solidFill>
                  <a:srgbClr val="222B33"/>
                </a:solidFill>
                <a:latin typeface="Calibri"/>
              </a:rPr>
              <a:t>Tone, audience, CTA rules, hashtags, and forbidden claims live in one editable profile - change the file once and the voice updates everywhere.</a:t>
            </a:r>
          </a:p>
        </p:txBody>
      </p:sp>
      <p:sp>
        <p:nvSpPr>
          <p:cNvPr id="14" name="TextBox 13"/>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5" name="TextBox 14"/>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LIVE DEMONSTRATION - 4 OF 5</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The Reviewer Blocks Hallucinations</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A second agent audits every claim against the factual data before anything is sent</a:t>
            </a:r>
          </a:p>
        </p:txBody>
      </p:sp>
      <p:sp>
        <p:nvSpPr>
          <p:cNvPr id="7" name="TextBox 6"/>
          <p:cNvSpPr txBox="1"/>
          <p:nvPr/>
        </p:nvSpPr>
        <p:spPr>
          <a:xfrm>
            <a:off x="502920" y="1691640"/>
            <a:ext cx="5394960" cy="365760"/>
          </a:xfrm>
          <a:prstGeom prst="rect">
            <a:avLst/>
          </a:prstGeom>
          <a:noFill/>
        </p:spPr>
        <p:txBody>
          <a:bodyPr wrap="square" lIns="0" tIns="0" rIns="0" bIns="0" anchor="t">
            <a:spAutoFit/>
          </a:bodyPr>
          <a:lstStyle/>
          <a:p>
            <a:pPr algn="l">
              <a:lnSpc>
                <a:spcPct val="100000"/>
              </a:lnSpc>
              <a:spcAft>
                <a:spcPts val="400"/>
              </a:spcAft>
            </a:pPr>
            <a:r>
              <a:rPr sz="1500" b="1">
                <a:solidFill>
                  <a:srgbClr val="0F2A43"/>
                </a:solidFill>
                <a:latin typeface="Calibri"/>
              </a:rPr>
              <a:t>What it verifies:</a:t>
            </a:r>
          </a:p>
        </p:txBody>
      </p:sp>
      <p:sp>
        <p:nvSpPr>
          <p:cNvPr id="8" name="TextBox 7"/>
          <p:cNvSpPr txBox="1"/>
          <p:nvPr/>
        </p:nvSpPr>
        <p:spPr>
          <a:xfrm>
            <a:off x="685800" y="2103120"/>
            <a:ext cx="5212080" cy="548640"/>
          </a:xfrm>
          <a:prstGeom prst="rect">
            <a:avLst/>
          </a:prstGeom>
          <a:noFill/>
        </p:spPr>
        <p:txBody>
          <a:bodyPr wrap="square" lIns="0" tIns="0" rIns="0" bIns="0" anchor="t">
            <a:spAutoFit/>
          </a:bodyPr>
          <a:lstStyle/>
          <a:p>
            <a:pPr algn="l">
              <a:lnSpc>
                <a:spcPct val="100000"/>
              </a:lnSpc>
              <a:spcAft>
                <a:spcPts val="0"/>
              </a:spcAft>
            </a:pPr>
            <a:r>
              <a:rPr sz="1400" b="1">
                <a:solidFill>
                  <a:srgbClr val="1F7A8C"/>
                </a:solidFill>
                <a:latin typeface="Calibri"/>
              </a:rPr>
              <a:t>✓  </a:t>
            </a:r>
            <a:r>
              <a:rPr sz="1400" b="0">
                <a:solidFill>
                  <a:srgbClr val="222B33"/>
                </a:solidFill>
                <a:latin typeface="Calibri"/>
              </a:rPr>
              <a:t>Hook strength (is the 3-second hook compelling?)</a:t>
            </a:r>
          </a:p>
        </p:txBody>
      </p:sp>
      <p:sp>
        <p:nvSpPr>
          <p:cNvPr id="9" name="TextBox 8"/>
          <p:cNvSpPr txBox="1"/>
          <p:nvPr/>
        </p:nvSpPr>
        <p:spPr>
          <a:xfrm>
            <a:off x="685800" y="2670048"/>
            <a:ext cx="5212080" cy="548640"/>
          </a:xfrm>
          <a:prstGeom prst="rect">
            <a:avLst/>
          </a:prstGeom>
          <a:noFill/>
        </p:spPr>
        <p:txBody>
          <a:bodyPr wrap="square" lIns="0" tIns="0" rIns="0" bIns="0" anchor="t">
            <a:spAutoFit/>
          </a:bodyPr>
          <a:lstStyle/>
          <a:p>
            <a:pPr algn="l">
              <a:lnSpc>
                <a:spcPct val="100000"/>
              </a:lnSpc>
              <a:spcAft>
                <a:spcPts val="0"/>
              </a:spcAft>
            </a:pPr>
            <a:r>
              <a:rPr sz="1400" b="1">
                <a:solidFill>
                  <a:srgbClr val="1F7A8C"/>
                </a:solidFill>
                <a:latin typeface="Calibri"/>
              </a:rPr>
              <a:t>✓  </a:t>
            </a:r>
            <a:r>
              <a:rPr sz="1400" b="0">
                <a:solidFill>
                  <a:srgbClr val="222B33"/>
                </a:solidFill>
                <a:latin typeface="Calibri"/>
              </a:rPr>
              <a:t>Figure accuracy (stock, discount, rating, orders)</a:t>
            </a:r>
          </a:p>
        </p:txBody>
      </p:sp>
      <p:sp>
        <p:nvSpPr>
          <p:cNvPr id="10" name="TextBox 9"/>
          <p:cNvSpPr txBox="1"/>
          <p:nvPr/>
        </p:nvSpPr>
        <p:spPr>
          <a:xfrm>
            <a:off x="685800" y="3236976"/>
            <a:ext cx="5212080" cy="548640"/>
          </a:xfrm>
          <a:prstGeom prst="rect">
            <a:avLst/>
          </a:prstGeom>
          <a:noFill/>
        </p:spPr>
        <p:txBody>
          <a:bodyPr wrap="square" lIns="0" tIns="0" rIns="0" bIns="0" anchor="t">
            <a:spAutoFit/>
          </a:bodyPr>
          <a:lstStyle/>
          <a:p>
            <a:pPr algn="l">
              <a:lnSpc>
                <a:spcPct val="100000"/>
              </a:lnSpc>
              <a:spcAft>
                <a:spcPts val="0"/>
              </a:spcAft>
            </a:pPr>
            <a:r>
              <a:rPr sz="1400" b="1">
                <a:solidFill>
                  <a:srgbClr val="1F7A8C"/>
                </a:solidFill>
                <a:latin typeface="Calibri"/>
              </a:rPr>
              <a:t>✓  </a:t>
            </a:r>
            <a:r>
              <a:rPr sz="1400" b="0">
                <a:solidFill>
                  <a:srgbClr val="222B33"/>
                </a:solidFill>
                <a:latin typeface="Calibri"/>
              </a:rPr>
              <a:t>Brand tone and channel-appropriate CTA</a:t>
            </a:r>
          </a:p>
        </p:txBody>
      </p:sp>
      <p:sp>
        <p:nvSpPr>
          <p:cNvPr id="11" name="TextBox 10"/>
          <p:cNvSpPr txBox="1"/>
          <p:nvPr/>
        </p:nvSpPr>
        <p:spPr>
          <a:xfrm>
            <a:off x="685800" y="3803904"/>
            <a:ext cx="5212080" cy="548640"/>
          </a:xfrm>
          <a:prstGeom prst="rect">
            <a:avLst/>
          </a:prstGeom>
          <a:noFill/>
        </p:spPr>
        <p:txBody>
          <a:bodyPr wrap="square" lIns="0" tIns="0" rIns="0" bIns="0" anchor="t">
            <a:spAutoFit/>
          </a:bodyPr>
          <a:lstStyle/>
          <a:p>
            <a:pPr algn="l">
              <a:lnSpc>
                <a:spcPct val="100000"/>
              </a:lnSpc>
              <a:spcAft>
                <a:spcPts val="0"/>
              </a:spcAft>
            </a:pPr>
            <a:r>
              <a:rPr sz="1400" b="1">
                <a:solidFill>
                  <a:srgbClr val="1F7A8C"/>
                </a:solidFill>
                <a:latin typeface="Calibri"/>
              </a:rPr>
              <a:t>✓  </a:t>
            </a:r>
            <a:r>
              <a:rPr sz="1400" b="0">
                <a:solidFill>
                  <a:srgbClr val="222B33"/>
                </a:solidFill>
                <a:latin typeface="Calibri"/>
              </a:rPr>
              <a:t>Format compliance for all three content types</a:t>
            </a:r>
          </a:p>
        </p:txBody>
      </p:sp>
      <p:sp>
        <p:nvSpPr>
          <p:cNvPr id="12" name="Rectangle 11"/>
          <p:cNvSpPr/>
          <p:nvPr/>
        </p:nvSpPr>
        <p:spPr>
          <a:xfrm>
            <a:off x="6172200" y="1691640"/>
            <a:ext cx="5486400" cy="3017520"/>
          </a:xfrm>
          <a:prstGeom prst="rect">
            <a:avLst/>
          </a:prstGeom>
          <a:solidFill>
            <a:srgbClr val="112233"/>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82880" rIns="182880" rtlCol="0" anchor="ctr"/>
          <a:lstStyle/>
          <a:p>
            <a:pPr>
              <a:spcAft>
                <a:spcPts val="300"/>
              </a:spcAft>
            </a:pPr>
            <a:r>
              <a:rPr sz="1300" dirty="0">
                <a:solidFill>
                  <a:srgbClr val="E8EEF4"/>
                </a:solidFill>
                <a:latin typeface="Consolas"/>
              </a:rPr>
              <a:t>🧭 Target: Premium Linen Shirt (45 pcs, 30% off)</a:t>
            </a:r>
          </a:p>
          <a:p>
            <a:pPr>
              <a:spcAft>
                <a:spcPts val="300"/>
              </a:spcAft>
            </a:pPr>
            <a:endParaRPr sz="1300" dirty="0">
              <a:solidFill>
                <a:srgbClr val="E8EEF4"/>
              </a:solidFill>
              <a:latin typeface="Consolas"/>
            </a:endParaRPr>
          </a:p>
          <a:p>
            <a:pPr>
              <a:spcAft>
                <a:spcPts val="300"/>
              </a:spcAft>
            </a:pPr>
            <a:r>
              <a:rPr sz="1300" dirty="0">
                <a:solidFill>
                  <a:srgbClr val="E8EEF4"/>
                </a:solidFill>
                <a:latin typeface="Consolas"/>
              </a:rPr>
              <a:t>Review 1/2: score=78  approved=False</a:t>
            </a:r>
          </a:p>
          <a:p>
            <a:pPr>
              <a:spcAft>
                <a:spcPts val="300"/>
              </a:spcAft>
            </a:pPr>
            <a:r>
              <a:rPr sz="1300" dirty="0">
                <a:solidFill>
                  <a:srgbClr val="E8EEF4"/>
                </a:solidFill>
                <a:latin typeface="Consolas"/>
              </a:rPr>
              <a:t>  -&gt; feed needs emoji bullets, stronger CTA</a:t>
            </a:r>
          </a:p>
          <a:p>
            <a:pPr>
              <a:spcAft>
                <a:spcPts val="300"/>
              </a:spcAft>
            </a:pPr>
            <a:endParaRPr sz="1300" dirty="0">
              <a:solidFill>
                <a:srgbClr val="E8EEF4"/>
              </a:solidFill>
              <a:latin typeface="Consolas"/>
            </a:endParaRPr>
          </a:p>
          <a:p>
            <a:pPr>
              <a:spcAft>
                <a:spcPts val="300"/>
              </a:spcAft>
            </a:pPr>
            <a:r>
              <a:rPr sz="1300" dirty="0">
                <a:solidFill>
                  <a:srgbClr val="E8EEF4"/>
                </a:solidFill>
                <a:latin typeface="Consolas"/>
              </a:rPr>
              <a:t>Review 2/2: score=96  approved=True</a:t>
            </a:r>
          </a:p>
          <a:p>
            <a:pPr>
              <a:spcAft>
                <a:spcPts val="300"/>
              </a:spcAft>
            </a:pPr>
            <a:endParaRPr sz="1300" dirty="0">
              <a:solidFill>
                <a:srgbClr val="E8EEF4"/>
              </a:solidFill>
              <a:latin typeface="Consolas"/>
            </a:endParaRPr>
          </a:p>
          <a:p>
            <a:pPr>
              <a:spcAft>
                <a:spcPts val="300"/>
              </a:spcAft>
            </a:pPr>
            <a:r>
              <a:rPr sz="1300" dirty="0">
                <a:solidFill>
                  <a:srgbClr val="E8EEF4"/>
                </a:solidFill>
                <a:latin typeface="Consolas"/>
              </a:rPr>
              <a:t>[OK] Approved=True | rounds=2</a:t>
            </a:r>
          </a:p>
        </p:txBody>
      </p:sp>
      <p:sp>
        <p:nvSpPr>
          <p:cNvPr id="13" name="TextBox 12"/>
          <p:cNvSpPr txBox="1"/>
          <p:nvPr/>
        </p:nvSpPr>
        <p:spPr>
          <a:xfrm>
            <a:off x="502920" y="5120640"/>
            <a:ext cx="11201400" cy="731520"/>
          </a:xfrm>
          <a:prstGeom prst="rect">
            <a:avLst/>
          </a:prstGeom>
          <a:noFill/>
        </p:spPr>
        <p:txBody>
          <a:bodyPr wrap="square" lIns="0" tIns="0" rIns="0" bIns="0" anchor="t">
            <a:spAutoFit/>
          </a:bodyPr>
          <a:lstStyle/>
          <a:p>
            <a:pPr algn="l">
              <a:lnSpc>
                <a:spcPct val="100000"/>
              </a:lnSpc>
              <a:spcAft>
                <a:spcPts val="400"/>
              </a:spcAft>
            </a:pPr>
            <a:r>
              <a:rPr sz="1400" b="0">
                <a:solidFill>
                  <a:srgbClr val="5A6B7B"/>
                </a:solidFill>
                <a:latin typeface="Calibri"/>
              </a:rPr>
              <a:t>Reject, revise, re-review - up to 2 rounds. Only approved content proceeds to delivery.</a:t>
            </a:r>
          </a:p>
        </p:txBody>
      </p:sp>
      <p:sp>
        <p:nvSpPr>
          <p:cNvPr id="14" name="TextBox 13"/>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5" name="TextBox 14"/>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LIVE DEMONSTRATION - 5 OF 5</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Delivered to Telegram, Ready to Publish</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The seller receives a clean, formatted message they can copy immediately</a:t>
            </a:r>
          </a:p>
        </p:txBody>
      </p:sp>
      <p:sp>
        <p:nvSpPr>
          <p:cNvPr id="7" name="Rounded Rectangle 6"/>
          <p:cNvSpPr/>
          <p:nvPr/>
        </p:nvSpPr>
        <p:spPr>
          <a:xfrm>
            <a:off x="640080" y="1691640"/>
            <a:ext cx="4023360" cy="4480560"/>
          </a:xfrm>
          <a:prstGeom prst="round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1828800"/>
            <a:ext cx="3474720" cy="36576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377440"/>
            <a:ext cx="3383280" cy="33832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500"/>
              </a:spcAft>
            </a:pPr>
            <a:r>
              <a:rPr sz="1100" b="1">
                <a:solidFill>
                  <a:srgbClr val="0F2A43"/>
                </a:solidFill>
                <a:latin typeface="Calibri"/>
              </a:rPr>
              <a:t>🔔 READY-TO-USE CONTENT</a:t>
            </a:r>
          </a:p>
          <a:p>
            <a:pPr algn="l">
              <a:lnSpc>
                <a:spcPct val="100000"/>
              </a:lnSpc>
              <a:spcAft>
                <a:spcPts val="500"/>
              </a:spcAft>
            </a:pPr>
            <a:r>
              <a:rPr sz="1100" b="1">
                <a:solidFill>
                  <a:srgbClr val="1F7A8C"/>
                </a:solidFill>
                <a:latin typeface="Calibri"/>
              </a:rPr>
              <a:t>PRIME TIME MORNING</a:t>
            </a:r>
          </a:p>
          <a:p>
            <a:pPr algn="l">
              <a:lnSpc>
                <a:spcPct val="100000"/>
              </a:lnSpc>
              <a:spcAft>
                <a:spcPts val="500"/>
              </a:spcAft>
            </a:pPr>
            <a:endParaRPr sz="1100" b="1">
              <a:solidFill>
                <a:srgbClr val="1F7A8C"/>
              </a:solidFill>
              <a:latin typeface="Calibri"/>
            </a:endParaRPr>
          </a:p>
          <a:p>
            <a:pPr algn="l">
              <a:lnSpc>
                <a:spcPct val="100000"/>
              </a:lnSpc>
              <a:spcAft>
                <a:spcPts val="500"/>
              </a:spcAft>
            </a:pPr>
            <a:r>
              <a:rPr sz="1050" b="1">
                <a:solidFill>
                  <a:srgbClr val="0F2A43"/>
                </a:solidFill>
                <a:latin typeface="Calibri"/>
              </a:rPr>
              <a:t>🎬 Video script (~15s)</a:t>
            </a:r>
          </a:p>
          <a:p>
            <a:pPr algn="l">
              <a:lnSpc>
                <a:spcPct val="100000"/>
              </a:lnSpc>
              <a:spcAft>
                <a:spcPts val="500"/>
              </a:spcAft>
            </a:pPr>
            <a:r>
              <a:rPr sz="1050" b="1">
                <a:solidFill>
                  <a:srgbClr val="0F2A43"/>
                </a:solidFill>
                <a:latin typeface="Calibri"/>
              </a:rPr>
              <a:t>📸 Feed caption</a:t>
            </a:r>
          </a:p>
          <a:p>
            <a:pPr algn="l">
              <a:lnSpc>
                <a:spcPct val="100000"/>
              </a:lnSpc>
              <a:spcAft>
                <a:spcPts val="500"/>
              </a:spcAft>
            </a:pPr>
            <a:r>
              <a:rPr sz="1050" b="1">
                <a:solidFill>
                  <a:srgbClr val="0F2A43"/>
                </a:solidFill>
                <a:latin typeface="Calibri"/>
              </a:rPr>
              <a:t>💬 Broadcast chat</a:t>
            </a:r>
          </a:p>
          <a:p>
            <a:pPr algn="l">
              <a:lnSpc>
                <a:spcPct val="100000"/>
              </a:lnSpc>
              <a:spcAft>
                <a:spcPts val="500"/>
              </a:spcAft>
            </a:pPr>
            <a:endParaRPr sz="1050" b="1">
              <a:solidFill>
                <a:srgbClr val="0F2A43"/>
              </a:solidFill>
              <a:latin typeface="Calibri"/>
            </a:endParaRPr>
          </a:p>
          <a:p>
            <a:pPr algn="l">
              <a:lnSpc>
                <a:spcPct val="100000"/>
              </a:lnSpc>
              <a:spcAft>
                <a:spcPts val="500"/>
              </a:spcAft>
            </a:pPr>
            <a:r>
              <a:rPr sz="1050" b="0">
                <a:solidFill>
                  <a:srgbClr val="5A6B7B"/>
                </a:solidFill>
                <a:latin typeface="Calibri"/>
              </a:rPr>
              <a:t>Formatted and copy-paste ready.</a:t>
            </a:r>
          </a:p>
        </p:txBody>
      </p:sp>
      <p:sp>
        <p:nvSpPr>
          <p:cNvPr id="10" name="TextBox 9"/>
          <p:cNvSpPr txBox="1"/>
          <p:nvPr/>
        </p:nvSpPr>
        <p:spPr>
          <a:xfrm>
            <a:off x="5120640" y="1828800"/>
            <a:ext cx="6492240" cy="4206240"/>
          </a:xfrm>
          <a:prstGeom prst="rect">
            <a:avLst/>
          </a:prstGeom>
          <a:noFill/>
        </p:spPr>
        <p:txBody>
          <a:bodyPr wrap="square" lIns="0" tIns="0" rIns="0" bIns="0" anchor="t">
            <a:spAutoFit/>
          </a:bodyPr>
          <a:lstStyle/>
          <a:p>
            <a:pPr algn="l">
              <a:lnSpc>
                <a:spcPct val="100000"/>
              </a:lnSpc>
              <a:spcAft>
                <a:spcPts val="1000"/>
              </a:spcAft>
            </a:pPr>
            <a:r>
              <a:rPr sz="1500" b="1">
                <a:solidFill>
                  <a:srgbClr val="0F2A43"/>
                </a:solidFill>
                <a:latin typeface="Calibri"/>
              </a:rPr>
              <a:t>One command runs the whole pipeline:</a:t>
            </a:r>
          </a:p>
          <a:p>
            <a:pPr algn="l">
              <a:lnSpc>
                <a:spcPct val="100000"/>
              </a:lnSpc>
              <a:spcAft>
                <a:spcPts val="1000"/>
              </a:spcAft>
            </a:pPr>
            <a:endParaRPr sz="1500" b="1">
              <a:solidFill>
                <a:srgbClr val="0F2A43"/>
              </a:solidFill>
              <a:latin typeface="Calibri"/>
            </a:endParaRPr>
          </a:p>
          <a:p>
            <a:pPr algn="l">
              <a:lnSpc>
                <a:spcPct val="100000"/>
              </a:lnSpc>
              <a:spcAft>
                <a:spcPts val="1000"/>
              </a:spcAft>
            </a:pPr>
            <a:r>
              <a:rPr sz="1400" b="1">
                <a:solidFill>
                  <a:srgbClr val="F18F01"/>
                </a:solidFill>
                <a:latin typeface="Calibri"/>
              </a:rPr>
              <a:t>uv run python -m app.cli trigger --slot morning</a:t>
            </a:r>
          </a:p>
          <a:p>
            <a:pPr algn="l">
              <a:lnSpc>
                <a:spcPct val="100000"/>
              </a:lnSpc>
              <a:spcAft>
                <a:spcPts val="1000"/>
              </a:spcAft>
            </a:pPr>
            <a:endParaRPr sz="1400" b="1">
              <a:solidFill>
                <a:srgbClr val="F18F01"/>
              </a:solidFill>
              <a:latin typeface="Calibri"/>
            </a:endParaRPr>
          </a:p>
          <a:p>
            <a:pPr algn="l">
              <a:lnSpc>
                <a:spcPct val="100000"/>
              </a:lnSpc>
              <a:spcAft>
                <a:spcPts val="1000"/>
              </a:spcAft>
            </a:pPr>
            <a:r>
              <a:rPr sz="1400" b="0">
                <a:solidFill>
                  <a:srgbClr val="222B33"/>
                </a:solidFill>
                <a:latin typeface="Calibri"/>
              </a:rPr>
              <a:t>   Real delivery via Telegram bot token + chat ID</a:t>
            </a:r>
          </a:p>
          <a:p>
            <a:pPr algn="l">
              <a:lnSpc>
                <a:spcPct val="100000"/>
              </a:lnSpc>
              <a:spcAft>
                <a:spcPts val="1000"/>
              </a:spcAft>
            </a:pPr>
            <a:r>
              <a:rPr sz="1400" b="0">
                <a:solidFill>
                  <a:srgbClr val="222B33"/>
                </a:solidFill>
                <a:latin typeface="Calibri"/>
              </a:rPr>
              <a:t>   --dry-run prints to terminal and archives to outputs/</a:t>
            </a:r>
          </a:p>
          <a:p>
            <a:pPr algn="l">
              <a:lnSpc>
                <a:spcPct val="100000"/>
              </a:lnSpc>
              <a:spcAft>
                <a:spcPts val="1000"/>
              </a:spcAft>
            </a:pPr>
            <a:r>
              <a:rPr sz="1400" b="0">
                <a:solidFill>
                  <a:srgbClr val="222B33"/>
                </a:solidFill>
                <a:latin typeface="Calibri"/>
              </a:rPr>
              <a:t>   Every run is archived with a timestamp for audit</a:t>
            </a:r>
          </a:p>
          <a:p>
            <a:pPr algn="l">
              <a:lnSpc>
                <a:spcPct val="100000"/>
              </a:lnSpc>
              <a:spcAft>
                <a:spcPts val="1000"/>
              </a:spcAft>
            </a:pPr>
            <a:endParaRPr sz="1400" b="0">
              <a:solidFill>
                <a:srgbClr val="222B33"/>
              </a:solidFill>
              <a:latin typeface="Calibri"/>
            </a:endParaRPr>
          </a:p>
          <a:p>
            <a:pPr algn="l">
              <a:lnSpc>
                <a:spcPct val="100000"/>
              </a:lnSpc>
              <a:spcAft>
                <a:spcPts val="1000"/>
              </a:spcAft>
            </a:pPr>
            <a:r>
              <a:rPr sz="1400" b="1">
                <a:solidFill>
                  <a:srgbClr val="0F2A43"/>
                </a:solidFill>
                <a:latin typeface="Calibri"/>
              </a:rPr>
              <a:t>Prime-time slots: morning ☀ / evening 🌆 / night 🌙</a:t>
            </a:r>
          </a:p>
        </p:txBody>
      </p:sp>
      <p:sp>
        <p:nvSpPr>
          <p:cNvPr id="11" name="TextBox 10"/>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2" name="TextBox 11"/>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1234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1247120" cy="274320"/>
          </a:xfrm>
          <a:prstGeom prst="rect">
            <a:avLst/>
          </a:prstGeom>
          <a:noFill/>
        </p:spPr>
        <p:txBody>
          <a:bodyPr wrap="square" lIns="0" tIns="0" rIns="0" bIns="0" anchor="t">
            <a:spAutoFit/>
          </a:bodyPr>
          <a:lstStyle/>
          <a:p>
            <a:pPr algn="l">
              <a:lnSpc>
                <a:spcPct val="100000"/>
              </a:lnSpc>
              <a:spcAft>
                <a:spcPts val="400"/>
              </a:spcAft>
            </a:pPr>
            <a:r>
              <a:rPr sz="1200" b="1">
                <a:solidFill>
                  <a:srgbClr val="1F7A8C"/>
                </a:solidFill>
                <a:latin typeface="Calibri"/>
              </a:rPr>
              <a:t>BUSINESS IMPACT</a:t>
            </a:r>
          </a:p>
        </p:txBody>
      </p:sp>
      <p:sp>
        <p:nvSpPr>
          <p:cNvPr id="5" name="TextBox 4"/>
          <p:cNvSpPr txBox="1"/>
          <p:nvPr/>
        </p:nvSpPr>
        <p:spPr>
          <a:xfrm>
            <a:off x="502920" y="402336"/>
            <a:ext cx="11247120" cy="502920"/>
          </a:xfrm>
          <a:prstGeom prst="rect">
            <a:avLst/>
          </a:prstGeom>
          <a:noFill/>
        </p:spPr>
        <p:txBody>
          <a:bodyPr wrap="square" lIns="0" tIns="0" rIns="0" bIns="0" anchor="t">
            <a:spAutoFit/>
          </a:bodyPr>
          <a:lstStyle/>
          <a:p>
            <a:pPr algn="l">
              <a:lnSpc>
                <a:spcPct val="100000"/>
              </a:lnSpc>
              <a:spcAft>
                <a:spcPts val="400"/>
              </a:spcAft>
            </a:pPr>
            <a:r>
              <a:rPr sz="2800" b="1">
                <a:solidFill>
                  <a:srgbClr val="0F2A43"/>
                </a:solidFill>
                <a:latin typeface="Calibri"/>
              </a:rPr>
              <a:t>What This Means for Online Sellers</a:t>
            </a:r>
          </a:p>
        </p:txBody>
      </p:sp>
      <p:sp>
        <p:nvSpPr>
          <p:cNvPr id="6" name="TextBox 5"/>
          <p:cNvSpPr txBox="1"/>
          <p:nvPr/>
        </p:nvSpPr>
        <p:spPr>
          <a:xfrm>
            <a:off x="502920" y="896112"/>
            <a:ext cx="11247120" cy="274320"/>
          </a:xfrm>
          <a:prstGeom prst="rect">
            <a:avLst/>
          </a:prstGeom>
          <a:noFill/>
        </p:spPr>
        <p:txBody>
          <a:bodyPr wrap="square" lIns="0" tIns="0" rIns="0" bIns="0" anchor="t">
            <a:spAutoFit/>
          </a:bodyPr>
          <a:lstStyle/>
          <a:p>
            <a:pPr algn="l">
              <a:lnSpc>
                <a:spcPct val="100000"/>
              </a:lnSpc>
              <a:spcAft>
                <a:spcPts val="400"/>
              </a:spcAft>
            </a:pPr>
            <a:r>
              <a:rPr sz="1300" b="0">
                <a:solidFill>
                  <a:srgbClr val="5A6B7B"/>
                </a:solidFill>
                <a:latin typeface="Calibri"/>
              </a:rPr>
              <a:t>Measurable outcomes, not just a technical novelty</a:t>
            </a:r>
          </a:p>
        </p:txBody>
      </p:sp>
      <p:sp>
        <p:nvSpPr>
          <p:cNvPr id="7" name="Rounded Rectangle 6"/>
          <p:cNvSpPr/>
          <p:nvPr/>
        </p:nvSpPr>
        <p:spPr>
          <a:xfrm>
            <a:off x="502920" y="1691640"/>
            <a:ext cx="3529584" cy="310896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1900" b="1">
                <a:solidFill>
                  <a:srgbClr val="0F2A43"/>
                </a:solidFill>
                <a:latin typeface="Calibri"/>
              </a:rPr>
              <a:t>Time Saved</a:t>
            </a:r>
          </a:p>
          <a:p>
            <a:pPr algn="l">
              <a:lnSpc>
                <a:spcPct val="100000"/>
              </a:lnSpc>
              <a:spcAft>
                <a:spcPts val="1000"/>
              </a:spcAft>
            </a:pPr>
            <a:r>
              <a:rPr sz="1350" b="0">
                <a:solidFill>
                  <a:srgbClr val="222B33"/>
                </a:solidFill>
                <a:latin typeface="Calibri"/>
              </a:rPr>
              <a:t>2-4 hours recovered every day - sellers reclaim their working day for growth, not routine.</a:t>
            </a:r>
          </a:p>
        </p:txBody>
      </p:sp>
      <p:sp>
        <p:nvSpPr>
          <p:cNvPr id="8" name="Rectangle 7"/>
          <p:cNvSpPr/>
          <p:nvPr/>
        </p:nvSpPr>
        <p:spPr>
          <a:xfrm>
            <a:off x="502920" y="1691640"/>
            <a:ext cx="82296" cy="3108960"/>
          </a:xfrm>
          <a:prstGeom prst="rect">
            <a:avLst/>
          </a:prstGeom>
          <a:solidFill>
            <a:srgbClr val="F18F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4256" y="1691640"/>
            <a:ext cx="3529584" cy="310896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1900" b="1">
                <a:solidFill>
                  <a:srgbClr val="0F2A43"/>
                </a:solidFill>
                <a:latin typeface="Calibri"/>
              </a:rPr>
              <a:t>Creative Block Solved</a:t>
            </a:r>
          </a:p>
          <a:p>
            <a:pPr algn="l">
              <a:lnSpc>
                <a:spcPct val="100000"/>
              </a:lnSpc>
              <a:spcAft>
                <a:spcPts val="1000"/>
              </a:spcAft>
            </a:pPr>
            <a:r>
              <a:rPr sz="1350" b="0">
                <a:solidFill>
                  <a:srgbClr val="222B33"/>
                </a:solidFill>
                <a:latin typeface="Calibri"/>
              </a:rPr>
              <a:t>Channel-specific content generated on demand, so sellers never stare at a blank page again.</a:t>
            </a:r>
          </a:p>
        </p:txBody>
      </p:sp>
      <p:sp>
        <p:nvSpPr>
          <p:cNvPr id="10" name="Rectangle 9"/>
          <p:cNvSpPr/>
          <p:nvPr/>
        </p:nvSpPr>
        <p:spPr>
          <a:xfrm>
            <a:off x="4334256" y="1691640"/>
            <a:ext cx="82296" cy="3108960"/>
          </a:xfrm>
          <a:prstGeom prst="rect">
            <a:avLst/>
          </a:prstGeom>
          <a:solidFill>
            <a:srgbClr val="F18F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65592" y="1691640"/>
            <a:ext cx="3529584" cy="3108960"/>
          </a:xfrm>
          <a:prstGeom prst="roundRect">
            <a:avLst/>
          </a:prstGeom>
          <a:solidFill>
            <a:srgbClr val="FFFFFF"/>
          </a:solidFill>
          <a:ln w="12700">
            <a:solidFill>
              <a:srgbClr val="D5DEE6"/>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t"/>
          <a:lstStyle/>
          <a:p>
            <a:pPr algn="l">
              <a:lnSpc>
                <a:spcPct val="100000"/>
              </a:lnSpc>
              <a:spcAft>
                <a:spcPts val="1000"/>
              </a:spcAft>
            </a:pPr>
            <a:r>
              <a:rPr sz="3000" b="0">
                <a:solidFill>
                  <a:srgbClr val="F18F01"/>
                </a:solidFill>
                <a:latin typeface="Calibri"/>
              </a:rPr>
              <a:t>🛡</a:t>
            </a:r>
          </a:p>
          <a:p>
            <a:pPr algn="l">
              <a:lnSpc>
                <a:spcPct val="100000"/>
              </a:lnSpc>
              <a:spcAft>
                <a:spcPts val="1000"/>
              </a:spcAft>
            </a:pPr>
            <a:r>
              <a:rPr sz="1900" b="1">
                <a:solidFill>
                  <a:srgbClr val="0F2A43"/>
                </a:solidFill>
                <a:latin typeface="Calibri"/>
              </a:rPr>
              <a:t>Brand Trust Protected</a:t>
            </a:r>
          </a:p>
          <a:p>
            <a:pPr algn="l">
              <a:lnSpc>
                <a:spcPct val="100000"/>
              </a:lnSpc>
              <a:spcAft>
                <a:spcPts val="1000"/>
              </a:spcAft>
            </a:pPr>
            <a:r>
              <a:rPr sz="1350" b="0">
                <a:solidFill>
                  <a:srgbClr val="222B33"/>
                </a:solidFill>
                <a:latin typeface="Calibri"/>
              </a:rPr>
              <a:t>An automated quality loop prevents inaccurate claims and keeps the brand's voice consistent.</a:t>
            </a:r>
          </a:p>
        </p:txBody>
      </p:sp>
      <p:sp>
        <p:nvSpPr>
          <p:cNvPr id="12" name="Rectangle 11"/>
          <p:cNvSpPr/>
          <p:nvPr/>
        </p:nvSpPr>
        <p:spPr>
          <a:xfrm>
            <a:off x="8165592" y="1691640"/>
            <a:ext cx="82296" cy="3108960"/>
          </a:xfrm>
          <a:prstGeom prst="rect">
            <a:avLst/>
          </a:prstGeom>
          <a:solidFill>
            <a:srgbClr val="F18F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5120640"/>
            <a:ext cx="11201400" cy="731520"/>
          </a:xfrm>
          <a:prstGeom prst="rect">
            <a:avLst/>
          </a:prstGeom>
          <a:noFill/>
        </p:spPr>
        <p:txBody>
          <a:bodyPr wrap="square" lIns="0" tIns="0" rIns="0" bIns="0" anchor="t">
            <a:spAutoFit/>
          </a:bodyPr>
          <a:lstStyle/>
          <a:p>
            <a:pPr algn="l">
              <a:lnSpc>
                <a:spcPct val="100000"/>
              </a:lnSpc>
              <a:spcAft>
                <a:spcPts val="400"/>
              </a:spcAft>
            </a:pPr>
            <a:r>
              <a:rPr sz="1500" b="1">
                <a:solidFill>
                  <a:srgbClr val="0F2A43"/>
                </a:solidFill>
                <a:latin typeface="Calibri"/>
              </a:rPr>
              <a:t>Operate more efficiently, respond faster to market demand, and grow the business sustainably.</a:t>
            </a:r>
          </a:p>
        </p:txBody>
      </p:sp>
      <p:sp>
        <p:nvSpPr>
          <p:cNvPr id="14" name="TextBox 13"/>
          <p:cNvSpPr txBox="1"/>
          <p:nvPr/>
        </p:nvSpPr>
        <p:spPr>
          <a:xfrm>
            <a:off x="502920" y="6510528"/>
            <a:ext cx="7315200" cy="274320"/>
          </a:xfrm>
          <a:prstGeom prst="rect">
            <a:avLst/>
          </a:prstGeom>
          <a:noFill/>
        </p:spPr>
        <p:txBody>
          <a:bodyPr wrap="square" lIns="0" tIns="0" rIns="0" bIns="0" anchor="t">
            <a:spAutoFit/>
          </a:bodyPr>
          <a:lstStyle/>
          <a:p>
            <a:pPr algn="l">
              <a:lnSpc>
                <a:spcPct val="100000"/>
              </a:lnSpc>
              <a:spcAft>
                <a:spcPts val="400"/>
              </a:spcAft>
            </a:pPr>
            <a:r>
              <a:rPr sz="1000" b="0">
                <a:solidFill>
                  <a:srgbClr val="5A6B7B"/>
                </a:solidFill>
                <a:latin typeface="Calibri"/>
              </a:rPr>
              <a:t>AI Marketing Copilot - Presentation</a:t>
            </a:r>
          </a:p>
        </p:txBody>
      </p:sp>
      <p:sp>
        <p:nvSpPr>
          <p:cNvPr id="15" name="TextBox 14"/>
          <p:cNvSpPr txBox="1"/>
          <p:nvPr/>
        </p:nvSpPr>
        <p:spPr>
          <a:xfrm>
            <a:off x="11338560" y="6510528"/>
            <a:ext cx="548640" cy="274320"/>
          </a:xfrm>
          <a:prstGeom prst="rect">
            <a:avLst/>
          </a:prstGeom>
          <a:noFill/>
        </p:spPr>
        <p:txBody>
          <a:bodyPr wrap="square" lIns="0" tIns="0" rIns="0" bIns="0" anchor="t">
            <a:spAutoFit/>
          </a:bodyPr>
          <a:lstStyle/>
          <a:p>
            <a:pPr algn="r">
              <a:lnSpc>
                <a:spcPct val="100000"/>
              </a:lnSpc>
              <a:spcAft>
                <a:spcPts val="400"/>
              </a:spcAft>
            </a:pPr>
            <a:r>
              <a:rPr sz="1000" b="1">
                <a:solidFill>
                  <a:srgbClr val="5A6B7B"/>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0"/>
            <a:ext cx="12191695" cy="5486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515600" cy="914400"/>
          </a:xfrm>
          <a:prstGeom prst="rect">
            <a:avLst/>
          </a:prstGeom>
          <a:noFill/>
        </p:spPr>
        <p:txBody>
          <a:bodyPr wrap="square" lIns="0" tIns="0" rIns="0" bIns="0" anchor="t">
            <a:spAutoFit/>
          </a:bodyPr>
          <a:lstStyle/>
          <a:p>
            <a:pPr algn="l">
              <a:lnSpc>
                <a:spcPct val="100000"/>
              </a:lnSpc>
              <a:spcAft>
                <a:spcPts val="400"/>
              </a:spcAft>
            </a:pPr>
            <a:r>
              <a:rPr sz="5400" b="1">
                <a:solidFill>
                  <a:srgbClr val="FFFFFF"/>
                </a:solidFill>
                <a:latin typeface="Calibri"/>
              </a:rPr>
              <a:t>Thank You</a:t>
            </a:r>
          </a:p>
        </p:txBody>
      </p:sp>
      <p:sp>
        <p:nvSpPr>
          <p:cNvPr id="5" name="TextBox 4"/>
          <p:cNvSpPr txBox="1"/>
          <p:nvPr/>
        </p:nvSpPr>
        <p:spPr>
          <a:xfrm>
            <a:off x="822960" y="3383280"/>
            <a:ext cx="10515600" cy="731520"/>
          </a:xfrm>
          <a:prstGeom prst="rect">
            <a:avLst/>
          </a:prstGeom>
          <a:noFill/>
        </p:spPr>
        <p:txBody>
          <a:bodyPr wrap="square" lIns="0" tIns="0" rIns="0" bIns="0" anchor="t">
            <a:spAutoFit/>
          </a:bodyPr>
          <a:lstStyle/>
          <a:p>
            <a:pPr algn="l">
              <a:lnSpc>
                <a:spcPct val="100000"/>
              </a:lnSpc>
              <a:spcAft>
                <a:spcPts val="400"/>
              </a:spcAft>
            </a:pPr>
            <a:r>
              <a:rPr sz="1800" b="0">
                <a:solidFill>
                  <a:srgbClr val="C9D8E8"/>
                </a:solidFill>
                <a:latin typeface="Calibri"/>
              </a:rPr>
              <a:t>AI Marketing Copilot - empowering Indonesian online sellers to work smarter.</a:t>
            </a:r>
          </a:p>
        </p:txBody>
      </p:sp>
      <p:sp>
        <p:nvSpPr>
          <p:cNvPr id="6" name="TextBox 5"/>
          <p:cNvSpPr txBox="1"/>
          <p:nvPr/>
        </p:nvSpPr>
        <p:spPr>
          <a:xfrm>
            <a:off x="822960" y="4846320"/>
            <a:ext cx="10515600" cy="457200"/>
          </a:xfrm>
          <a:prstGeom prst="rect">
            <a:avLst/>
          </a:prstGeom>
          <a:noFill/>
        </p:spPr>
        <p:txBody>
          <a:bodyPr wrap="square" lIns="0" tIns="0" rIns="0" bIns="0" anchor="t">
            <a:spAutoFit/>
          </a:bodyPr>
          <a:lstStyle/>
          <a:p>
            <a:pPr algn="l">
              <a:lnSpc>
                <a:spcPct val="100000"/>
              </a:lnSpc>
              <a:spcAft>
                <a:spcPts val="400"/>
              </a:spcAft>
            </a:pPr>
            <a:r>
              <a:rPr sz="1400" b="1">
                <a:solidFill>
                  <a:srgbClr val="7FD4E0"/>
                </a:solidFill>
                <a:latin typeface="Calibr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1396</Words>
  <Application>Microsoft Office PowerPoint</Application>
  <PresentationFormat>Widescreen</PresentationFormat>
  <Paragraphs>178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Christopher Gavra Reswara</cp:lastModifiedBy>
  <cp:revision>4</cp:revision>
  <dcterms:created xsi:type="dcterms:W3CDTF">2013-01-27T09:14:16Z</dcterms:created>
  <dcterms:modified xsi:type="dcterms:W3CDTF">2026-08-21T01:58:18Z</dcterms:modified>
  <cp:category/>
</cp:coreProperties>
</file>